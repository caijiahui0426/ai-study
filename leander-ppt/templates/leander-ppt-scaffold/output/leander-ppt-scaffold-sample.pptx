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Chapter ID: ch01-foundation
Page ID: p01
Takeaway: This scaffold produces editable PPTX from staged outline, theme, components, and QA.
Visual intent: minimal-cover-right-title
Component source: ppt-component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Chapter ID: ch01-foundation
Page ID: p02
Takeaway: Recurring slide problems should become reusable layouts, components, and QA rules.
Visual intent: section-divider-big-number
Component source: ppt-component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Chapter ID: ch02-core-components
Page ID: p03
Takeaway: Metric cards work when the number, label, evidence, and caveat are visible together.
Visual intent: three-metric-cards
Component source: ppt-component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Chapter ID: ch02-core-components
Page ID: p04
Takeaway: A big-word matrix turns whitespace into a memory anchor with supporting evidence.
Visual intent: big-word-card-matrix
Component source: ppt-component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Chapter ID: ch02-core-components
Page ID: p05
Takeaway: Four-column pages should balance explanation, icon, and conclusion in each lane.
Visual intent: four-column-mechanism
Component source: ppt-component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Chapter ID: ch03-system-components
Page ID: p06
Takeaway: Architecture pages should connect inputs, a core platform, and outputs.
Visual intent: system-architecture-center
Component source: ppt-component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Chapter ID: ch03-system-components
Page ID: p07
Takeaway: Hub-spoke pages must explain relationships rather than decorate the page.
Visual intent: hub-spoke-capability
Component source: ppt-component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Chapter ID: ch03-system-components
Page ID: p08
Takeaway: Roadmap swimlanes clarify stages, tracks, and the current marker.
Visual intent: roadmap-swimlane
Component source: ppt-component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5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2667305" y="1904695"/>
            <a:ext cx="8255203" cy="7114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4400" b="1" dirty="0">
                <a:solidFill>
                  <a:srgbClr val="C5151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Leander PPT</a:t>
            </a:r>
            <a:endParaRPr lang="en-US" sz="4400" dirty="0"/>
          </a:p>
        </p:txBody>
      </p:sp>
      <p:sp>
        <p:nvSpPr>
          <p:cNvPr id="4" name="Text 1"/>
          <p:cNvSpPr/>
          <p:nvPr/>
        </p:nvSpPr>
        <p:spPr>
          <a:xfrm>
            <a:off x="2667305" y="2730398"/>
            <a:ext cx="8255203" cy="2542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C51516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Reusable Presentation Scaffold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2667305" y="3238805"/>
            <a:ext cx="8255203" cy="2542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brief -&gt; outline -&gt; theme -&gt; samples -&gt; deck -&gt; QA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660197" y="5562295"/>
            <a:ext cx="4190695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p01 / scaffold sample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355702" y="6324905"/>
            <a:ext cx="11481206" cy="25603"/>
          </a:xfrm>
          <a:prstGeom prst="rect">
            <a:avLst/>
          </a:prstGeom>
          <a:solidFill>
            <a:srgbClr val="C51516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609905" y="838505"/>
            <a:ext cx="3937406" cy="15873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500" b="1" dirty="0">
                <a:solidFill>
                  <a:srgbClr val="D9D5C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01</a:t>
            </a:r>
            <a:endParaRPr lang="en-US" sz="7500" dirty="0"/>
          </a:p>
        </p:txBody>
      </p:sp>
      <p:sp>
        <p:nvSpPr>
          <p:cNvPr id="4" name="Shape 1"/>
          <p:cNvSpPr/>
          <p:nvPr/>
        </p:nvSpPr>
        <p:spPr>
          <a:xfrm>
            <a:off x="660197" y="3301898"/>
            <a:ext cx="51206" cy="711403"/>
          </a:xfrm>
          <a:prstGeom prst="rect">
            <a:avLst/>
          </a:prstGeom>
          <a:solidFill>
            <a:srgbClr val="C51516"/>
          </a:solidFill>
          <a:ln/>
        </p:spPr>
      </p:sp>
      <p:sp>
        <p:nvSpPr>
          <p:cNvPr id="5" name="Text 2"/>
          <p:cNvSpPr/>
          <p:nvPr/>
        </p:nvSpPr>
        <p:spPr>
          <a:xfrm>
            <a:off x="914400" y="3174797"/>
            <a:ext cx="7492594" cy="4828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500" b="1" dirty="0">
                <a:solidFill>
                  <a:srgbClr val="C5151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Componentized Expression</a:t>
            </a:r>
            <a:endParaRPr lang="en-US" sz="2500" dirty="0"/>
          </a:p>
        </p:txBody>
      </p:sp>
      <p:sp>
        <p:nvSpPr>
          <p:cNvPr id="6" name="Text 3"/>
          <p:cNvSpPr/>
          <p:nvPr/>
        </p:nvSpPr>
        <p:spPr>
          <a:xfrm>
            <a:off x="927202" y="3733495"/>
            <a:ext cx="6476695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Turn recurring slide problems into reusable layouts, components, and QA rules.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914400" y="4444898"/>
            <a:ext cx="1333195" cy="317297"/>
          </a:xfrm>
          <a:prstGeom prst="roundRect">
            <a:avLst>
              <a:gd name="adj" fmla="val 16138"/>
            </a:avLst>
          </a:prstGeom>
          <a:solidFill>
            <a:srgbClr val="FBECEB"/>
          </a:solidFill>
          <a:ln w="12700">
            <a:solidFill>
              <a:srgbClr val="C51516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914400" y="4533595"/>
            <a:ext cx="1333195" cy="1399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50" b="1" dirty="0">
                <a:solidFill>
                  <a:srgbClr val="C5151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Structure</a:t>
            </a:r>
            <a:endParaRPr lang="en-US" sz="850" dirty="0"/>
          </a:p>
        </p:txBody>
      </p:sp>
      <p:sp>
        <p:nvSpPr>
          <p:cNvPr id="9" name="Shape 6"/>
          <p:cNvSpPr/>
          <p:nvPr/>
        </p:nvSpPr>
        <p:spPr>
          <a:xfrm>
            <a:off x="2565806" y="4444898"/>
            <a:ext cx="1333195" cy="317297"/>
          </a:xfrm>
          <a:prstGeom prst="roundRect">
            <a:avLst>
              <a:gd name="adj" fmla="val 16138"/>
            </a:avLst>
          </a:prstGeom>
          <a:solidFill>
            <a:srgbClr val="F3F6FA"/>
          </a:solidFill>
          <a:ln w="12700">
            <a:solidFill>
              <a:srgbClr val="D9D5CB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2565806" y="4533595"/>
            <a:ext cx="1333195" cy="1399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50" b="1" dirty="0">
                <a:solidFill>
                  <a:srgbClr val="0719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Visual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4216298" y="4444898"/>
            <a:ext cx="1333195" cy="317297"/>
          </a:xfrm>
          <a:prstGeom prst="roundRect">
            <a:avLst>
              <a:gd name="adj" fmla="val 16138"/>
            </a:avLst>
          </a:prstGeom>
          <a:solidFill>
            <a:srgbClr val="F3F6FA"/>
          </a:solidFill>
          <a:ln w="12700">
            <a:solidFill>
              <a:srgbClr val="D9D5CB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216298" y="4533595"/>
            <a:ext cx="1333195" cy="1399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50" b="1" dirty="0">
                <a:solidFill>
                  <a:srgbClr val="0719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QA</a:t>
            </a:r>
            <a:endParaRPr lang="en-US" sz="850" dirty="0"/>
          </a:p>
        </p:txBody>
      </p:sp>
      <p:sp>
        <p:nvSpPr>
          <p:cNvPr id="13" name="Shape 10"/>
          <p:cNvSpPr/>
          <p:nvPr/>
        </p:nvSpPr>
        <p:spPr>
          <a:xfrm>
            <a:off x="355702" y="6324905"/>
            <a:ext cx="11481206" cy="25603"/>
          </a:xfrm>
          <a:prstGeom prst="rect">
            <a:avLst/>
          </a:prstGeom>
          <a:solidFill>
            <a:srgbClr val="C51516"/>
          </a:solidFill>
          <a:ln/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609905" y="457200"/>
            <a:ext cx="9525305" cy="3685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C5151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Three Metric Cards</a:t>
            </a:r>
            <a:endParaRPr lang="en-US" sz="2000" dirty="0"/>
          </a:p>
        </p:txBody>
      </p:sp>
      <p:sp>
        <p:nvSpPr>
          <p:cNvPr id="4" name="Shape 1"/>
          <p:cNvSpPr/>
          <p:nvPr/>
        </p:nvSpPr>
        <p:spPr>
          <a:xfrm>
            <a:off x="609905" y="914400"/>
            <a:ext cx="4826203" cy="19202"/>
          </a:xfrm>
          <a:prstGeom prst="rect">
            <a:avLst/>
          </a:prstGeom>
          <a:solidFill>
            <a:srgbClr val="C51516"/>
          </a:solidFill>
          <a:ln/>
        </p:spPr>
      </p:sp>
      <p:sp>
        <p:nvSpPr>
          <p:cNvPr id="5" name="Text 2"/>
          <p:cNvSpPr/>
          <p:nvPr/>
        </p:nvSpPr>
        <p:spPr>
          <a:xfrm>
            <a:off x="609905" y="1041502"/>
            <a:ext cx="9778594" cy="2157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For quantified value, benchmark evidence, and staged benefits.</a:t>
            </a:r>
            <a:endParaRPr lang="en-US" sz="900" dirty="0"/>
          </a:p>
        </p:txBody>
      </p:sp>
      <p:sp>
        <p:nvSpPr>
          <p:cNvPr id="6" name="Shape 3"/>
          <p:cNvSpPr/>
          <p:nvPr/>
        </p:nvSpPr>
        <p:spPr>
          <a:xfrm>
            <a:off x="609905" y="1714500"/>
            <a:ext cx="3416198" cy="1714500"/>
          </a:xfrm>
          <a:prstGeom prst="roundRect">
            <a:avLst>
              <a:gd name="adj" fmla="val 2987"/>
            </a:avLst>
          </a:prstGeom>
          <a:solidFill>
            <a:srgbClr val="FFFFFF"/>
          </a:solidFill>
          <a:ln w="12700">
            <a:solidFill>
              <a:srgbClr val="D9D5CB"/>
            </a:solidFill>
            <a:prstDash val="solid"/>
          </a:ln>
          <a:effectLst>
            <a:outerShdw sx="100000" sy="100000" kx="0" ky="0" algn="bl" rotWithShape="0" blurRad="101600" dist="25400" dir="5400000">
              <a:srgbClr val="1A2030">
                <a:alpha val="14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609905" y="1714500"/>
            <a:ext cx="3416198" cy="38405"/>
          </a:xfrm>
          <a:prstGeom prst="rect">
            <a:avLst/>
          </a:prstGeom>
          <a:solidFill>
            <a:srgbClr val="C51516"/>
          </a:solidFill>
          <a:ln/>
        </p:spPr>
      </p:sp>
      <p:sp>
        <p:nvSpPr>
          <p:cNvPr id="8" name="Text 5"/>
          <p:cNvSpPr/>
          <p:nvPr/>
        </p:nvSpPr>
        <p:spPr>
          <a:xfrm>
            <a:off x="800100" y="1981505"/>
            <a:ext cx="1651406" cy="4443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900" b="1" dirty="0">
                <a:solidFill>
                  <a:srgbClr val="C51516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30%</a:t>
            </a:r>
            <a:endParaRPr lang="en-US" sz="2900" dirty="0"/>
          </a:p>
        </p:txBody>
      </p:sp>
      <p:sp>
        <p:nvSpPr>
          <p:cNvPr id="9" name="Text 6"/>
          <p:cNvSpPr/>
          <p:nvPr/>
        </p:nvSpPr>
        <p:spPr>
          <a:xfrm>
            <a:off x="800100" y="2514600"/>
            <a:ext cx="3034894" cy="2157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0719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Efficiency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800100" y="2831897"/>
            <a:ext cx="3034894" cy="3941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Use a strong number for the claim; keep body text to source and boundary.</a:t>
            </a:r>
            <a:endParaRPr lang="en-US" sz="800" dirty="0"/>
          </a:p>
        </p:txBody>
      </p:sp>
      <p:sp>
        <p:nvSpPr>
          <p:cNvPr id="11" name="Shape 8"/>
          <p:cNvSpPr/>
          <p:nvPr/>
        </p:nvSpPr>
        <p:spPr>
          <a:xfrm>
            <a:off x="4267505" y="1714500"/>
            <a:ext cx="3416198" cy="1714500"/>
          </a:xfrm>
          <a:prstGeom prst="roundRect">
            <a:avLst>
              <a:gd name="adj" fmla="val 2987"/>
            </a:avLst>
          </a:prstGeom>
          <a:solidFill>
            <a:srgbClr val="FFFFFF"/>
          </a:solidFill>
          <a:ln w="12700">
            <a:solidFill>
              <a:srgbClr val="D9D5CB"/>
            </a:solidFill>
            <a:prstDash val="solid"/>
          </a:ln>
          <a:effectLst>
            <a:outerShdw sx="100000" sy="100000" kx="0" ky="0" algn="bl" rotWithShape="0" blurRad="101600" dist="25400" dir="5400000">
              <a:srgbClr val="1A2030">
                <a:alpha val="14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267505" y="1714500"/>
            <a:ext cx="3416198" cy="38405"/>
          </a:xfrm>
          <a:prstGeom prst="rect">
            <a:avLst/>
          </a:prstGeom>
          <a:solidFill>
            <a:srgbClr val="07195A"/>
          </a:solidFill>
          <a:ln/>
        </p:spPr>
      </p:sp>
      <p:sp>
        <p:nvSpPr>
          <p:cNvPr id="13" name="Text 10"/>
          <p:cNvSpPr/>
          <p:nvPr/>
        </p:nvSpPr>
        <p:spPr>
          <a:xfrm>
            <a:off x="4457700" y="1981505"/>
            <a:ext cx="1651406" cy="4443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900" b="1" dirty="0">
                <a:solidFill>
                  <a:srgbClr val="07195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2.5x</a:t>
            </a:r>
            <a:endParaRPr lang="en-US" sz="2900" dirty="0"/>
          </a:p>
        </p:txBody>
      </p:sp>
      <p:sp>
        <p:nvSpPr>
          <p:cNvPr id="14" name="Text 11"/>
          <p:cNvSpPr/>
          <p:nvPr/>
        </p:nvSpPr>
        <p:spPr>
          <a:xfrm>
            <a:off x="4457700" y="2514600"/>
            <a:ext cx="3034894" cy="2157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0719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Response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4457700" y="2831897"/>
            <a:ext cx="3034894" cy="3941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Number, unit, source, and scenario should appear together.</a:t>
            </a:r>
            <a:endParaRPr lang="en-US" sz="800" dirty="0"/>
          </a:p>
        </p:txBody>
      </p:sp>
      <p:sp>
        <p:nvSpPr>
          <p:cNvPr id="16" name="Shape 13"/>
          <p:cNvSpPr/>
          <p:nvPr/>
        </p:nvSpPr>
        <p:spPr>
          <a:xfrm>
            <a:off x="7925105" y="1714500"/>
            <a:ext cx="3416198" cy="1714500"/>
          </a:xfrm>
          <a:prstGeom prst="roundRect">
            <a:avLst>
              <a:gd name="adj" fmla="val 2987"/>
            </a:avLst>
          </a:prstGeom>
          <a:solidFill>
            <a:srgbClr val="FFFFFF"/>
          </a:solidFill>
          <a:ln w="12700">
            <a:solidFill>
              <a:srgbClr val="D9D5CB"/>
            </a:solidFill>
            <a:prstDash val="solid"/>
          </a:ln>
          <a:effectLst>
            <a:outerShdw sx="100000" sy="100000" kx="0" ky="0" algn="bl" rotWithShape="0" blurRad="101600" dist="25400" dir="5400000">
              <a:srgbClr val="1A2030">
                <a:alpha val="14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7925105" y="1714500"/>
            <a:ext cx="3416198" cy="38405"/>
          </a:xfrm>
          <a:prstGeom prst="rect">
            <a:avLst/>
          </a:prstGeom>
          <a:solidFill>
            <a:srgbClr val="07195A"/>
          </a:solidFill>
          <a:ln/>
        </p:spPr>
      </p:sp>
      <p:sp>
        <p:nvSpPr>
          <p:cNvPr id="18" name="Text 15"/>
          <p:cNvSpPr/>
          <p:nvPr/>
        </p:nvSpPr>
        <p:spPr>
          <a:xfrm>
            <a:off x="8115300" y="1981505"/>
            <a:ext cx="1651406" cy="4443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900" b="1" dirty="0">
                <a:solidFill>
                  <a:srgbClr val="07195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P0</a:t>
            </a:r>
            <a:endParaRPr lang="en-US" sz="2900" dirty="0"/>
          </a:p>
        </p:txBody>
      </p:sp>
      <p:sp>
        <p:nvSpPr>
          <p:cNvPr id="19" name="Text 16"/>
          <p:cNvSpPr/>
          <p:nvPr/>
        </p:nvSpPr>
        <p:spPr>
          <a:xfrm>
            <a:off x="8115300" y="2514600"/>
            <a:ext cx="3034894" cy="2157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0719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Priority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8115300" y="2831897"/>
            <a:ext cx="3034894" cy="3941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When a point is not numeric, use a clear decision level.</a:t>
            </a:r>
            <a:endParaRPr lang="en-US" sz="800" dirty="0"/>
          </a:p>
        </p:txBody>
      </p:sp>
      <p:sp>
        <p:nvSpPr>
          <p:cNvPr id="21" name="Shape 18"/>
          <p:cNvSpPr/>
          <p:nvPr/>
        </p:nvSpPr>
        <p:spPr>
          <a:xfrm>
            <a:off x="609905" y="4101998"/>
            <a:ext cx="10972800" cy="418795"/>
          </a:xfrm>
          <a:prstGeom prst="roundRect">
            <a:avLst>
              <a:gd name="adj" fmla="val 12227"/>
            </a:avLst>
          </a:prstGeom>
          <a:solidFill>
            <a:srgbClr val="FFFFFF"/>
          </a:solidFill>
          <a:ln w="12700">
            <a:solidFill>
              <a:srgbClr val="D9D5CB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812902" y="4216298"/>
            <a:ext cx="10566806" cy="1773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00" b="1" dirty="0">
                <a:solidFill>
                  <a:srgbClr val="0719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Sample numbers are layout placeholders. Real decks must label source and estimate boundaries.</a:t>
            </a:r>
            <a:endParaRPr lang="en-US" sz="800" dirty="0"/>
          </a:p>
        </p:txBody>
      </p:sp>
      <p:sp>
        <p:nvSpPr>
          <p:cNvPr id="23" name="Shape 20"/>
          <p:cNvSpPr/>
          <p:nvPr/>
        </p:nvSpPr>
        <p:spPr>
          <a:xfrm>
            <a:off x="355702" y="6324905"/>
            <a:ext cx="11481206" cy="25603"/>
          </a:xfrm>
          <a:prstGeom prst="rect">
            <a:avLst/>
          </a:prstGeom>
          <a:solidFill>
            <a:srgbClr val="C51516"/>
          </a:solidFill>
          <a:ln/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609905" y="457200"/>
            <a:ext cx="9525305" cy="3685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C5151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Big Word + Card Matrix</a:t>
            </a:r>
            <a:endParaRPr lang="en-US" sz="2000" dirty="0"/>
          </a:p>
        </p:txBody>
      </p:sp>
      <p:sp>
        <p:nvSpPr>
          <p:cNvPr id="4" name="Shape 1"/>
          <p:cNvSpPr/>
          <p:nvPr/>
        </p:nvSpPr>
        <p:spPr>
          <a:xfrm>
            <a:off x="609905" y="914400"/>
            <a:ext cx="4826203" cy="19202"/>
          </a:xfrm>
          <a:prstGeom prst="rect">
            <a:avLst/>
          </a:prstGeom>
          <a:solidFill>
            <a:srgbClr val="C51516"/>
          </a:solidFill>
          <a:ln/>
        </p:spPr>
      </p:sp>
      <p:sp>
        <p:nvSpPr>
          <p:cNvPr id="5" name="Text 2"/>
          <p:cNvSpPr/>
          <p:nvPr/>
        </p:nvSpPr>
        <p:spPr>
          <a:xfrm>
            <a:off x="609905" y="1041502"/>
            <a:ext cx="9778594" cy="2157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For strategic judgement, value statements, and operating principles.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685800" y="1815998"/>
            <a:ext cx="2920594" cy="8887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2900" b="1" dirty="0">
                <a:solidFill>
                  <a:srgbClr val="0719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Lower Cost</a:t>
            </a:r>
            <a:endParaRPr lang="en-US" sz="2900" dirty="0"/>
          </a:p>
          <a:p>
            <a:pPr algn="l" indent="0" marL="0">
              <a:lnSpc>
                <a:spcPct val="88000"/>
              </a:lnSpc>
              <a:buNone/>
            </a:pPr>
            <a:r>
              <a:rPr lang="en-US" sz="2900" b="1" dirty="0">
                <a:solidFill>
                  <a:srgbClr val="0719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Raise Speed</a:t>
            </a:r>
            <a:endParaRPr lang="en-US" sz="2900" dirty="0"/>
          </a:p>
        </p:txBody>
      </p:sp>
      <p:sp>
        <p:nvSpPr>
          <p:cNvPr id="7" name="Shape 4"/>
          <p:cNvSpPr/>
          <p:nvPr/>
        </p:nvSpPr>
        <p:spPr>
          <a:xfrm>
            <a:off x="685800" y="3301898"/>
            <a:ext cx="38405" cy="558698"/>
          </a:xfrm>
          <a:prstGeom prst="rect">
            <a:avLst/>
          </a:prstGeom>
          <a:solidFill>
            <a:srgbClr val="C51516"/>
          </a:solidFill>
          <a:ln/>
        </p:spPr>
      </p:sp>
      <p:sp>
        <p:nvSpPr>
          <p:cNvPr id="8" name="Text 5"/>
          <p:cNvSpPr/>
          <p:nvPr/>
        </p:nvSpPr>
        <p:spPr>
          <a:xfrm>
            <a:off x="863194" y="3314700"/>
            <a:ext cx="2667305" cy="4700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3D3A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Use the left side as the memory anchor and the right side for reusable evidence or actions.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4076395" y="1548994"/>
            <a:ext cx="6401" cy="3429000"/>
          </a:xfrm>
          <a:prstGeom prst="rect">
            <a:avLst/>
          </a:prstGeom>
          <a:solidFill>
            <a:srgbClr val="D9D5CB"/>
          </a:solidFill>
          <a:ln/>
        </p:spPr>
      </p:sp>
      <p:sp>
        <p:nvSpPr>
          <p:cNvPr id="10" name="Shape 7"/>
          <p:cNvSpPr/>
          <p:nvPr/>
        </p:nvSpPr>
        <p:spPr>
          <a:xfrm>
            <a:off x="4597603" y="1815998"/>
            <a:ext cx="2476195" cy="1015898"/>
          </a:xfrm>
          <a:prstGeom prst="roundRect">
            <a:avLst>
              <a:gd name="adj" fmla="val 5041"/>
            </a:avLst>
          </a:prstGeom>
          <a:solidFill>
            <a:srgbClr val="FFFFFF"/>
          </a:solidFill>
          <a:ln w="12700">
            <a:solidFill>
              <a:srgbClr val="D9D5CB"/>
            </a:solidFill>
            <a:prstDash val="solid"/>
          </a:ln>
          <a:effectLst>
            <a:outerShdw sx="100000" sy="100000" kx="0" ky="0" algn="bl" rotWithShape="0" blurRad="101600" dist="25400" dir="5400000">
              <a:srgbClr val="1A2030">
                <a:alpha val="14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597603" y="1815998"/>
            <a:ext cx="2476195" cy="38405"/>
          </a:xfrm>
          <a:prstGeom prst="rect">
            <a:avLst/>
          </a:prstGeom>
          <a:solidFill>
            <a:srgbClr val="C51516"/>
          </a:solidFill>
          <a:ln/>
        </p:spPr>
      </p:sp>
      <p:sp>
        <p:nvSpPr>
          <p:cNvPr id="12" name="Text 9"/>
          <p:cNvSpPr/>
          <p:nvPr/>
        </p:nvSpPr>
        <p:spPr>
          <a:xfrm>
            <a:off x="4762195" y="1994306"/>
            <a:ext cx="30449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C51516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01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5143500" y="1994306"/>
            <a:ext cx="1651406" cy="1901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C5151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Product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5143500" y="2273198"/>
            <a:ext cx="1651406" cy="3044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7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Reusable components reduce repeated design and development work.</a:t>
            </a:r>
            <a:endParaRPr lang="en-US" sz="750" dirty="0"/>
          </a:p>
        </p:txBody>
      </p:sp>
      <p:sp>
        <p:nvSpPr>
          <p:cNvPr id="15" name="Shape 12"/>
          <p:cNvSpPr/>
          <p:nvPr/>
        </p:nvSpPr>
        <p:spPr>
          <a:xfrm>
            <a:off x="7391095" y="1815998"/>
            <a:ext cx="2476195" cy="1015898"/>
          </a:xfrm>
          <a:prstGeom prst="roundRect">
            <a:avLst>
              <a:gd name="adj" fmla="val 5041"/>
            </a:avLst>
          </a:prstGeom>
          <a:solidFill>
            <a:srgbClr val="FFFFFF"/>
          </a:solidFill>
          <a:ln w="12700">
            <a:solidFill>
              <a:srgbClr val="D9D5CB"/>
            </a:solidFill>
            <a:prstDash val="solid"/>
          </a:ln>
          <a:effectLst>
            <a:outerShdw sx="100000" sy="100000" kx="0" ky="0" algn="bl" rotWithShape="0" blurRad="101600" dist="25400" dir="5400000">
              <a:srgbClr val="1A2030">
                <a:alpha val="14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7391095" y="1815998"/>
            <a:ext cx="2476195" cy="38405"/>
          </a:xfrm>
          <a:prstGeom prst="rect">
            <a:avLst/>
          </a:prstGeom>
          <a:solidFill>
            <a:srgbClr val="07195A"/>
          </a:solidFill>
          <a:ln/>
        </p:spPr>
      </p:sp>
      <p:sp>
        <p:nvSpPr>
          <p:cNvPr id="17" name="Text 14"/>
          <p:cNvSpPr/>
          <p:nvPr/>
        </p:nvSpPr>
        <p:spPr>
          <a:xfrm>
            <a:off x="7556602" y="1994306"/>
            <a:ext cx="30449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07195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02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7937906" y="1994306"/>
            <a:ext cx="1651406" cy="1901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0719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Project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7937906" y="2273198"/>
            <a:ext cx="1651406" cy="3044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7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Delivery artifacts become traceable and easier to repair.</a:t>
            </a:r>
            <a:endParaRPr lang="en-US" sz="750" dirty="0"/>
          </a:p>
        </p:txBody>
      </p:sp>
      <p:sp>
        <p:nvSpPr>
          <p:cNvPr id="20" name="Shape 17"/>
          <p:cNvSpPr/>
          <p:nvPr/>
        </p:nvSpPr>
        <p:spPr>
          <a:xfrm>
            <a:off x="4597603" y="3149194"/>
            <a:ext cx="2476195" cy="1015898"/>
          </a:xfrm>
          <a:prstGeom prst="roundRect">
            <a:avLst>
              <a:gd name="adj" fmla="val 5041"/>
            </a:avLst>
          </a:prstGeom>
          <a:solidFill>
            <a:srgbClr val="FFFFFF"/>
          </a:solidFill>
          <a:ln w="12700">
            <a:solidFill>
              <a:srgbClr val="D9D5CB"/>
            </a:solidFill>
            <a:prstDash val="solid"/>
          </a:ln>
          <a:effectLst>
            <a:outerShdw sx="100000" sy="100000" kx="0" ky="0" algn="bl" rotWithShape="0" blurRad="101600" dist="25400" dir="5400000">
              <a:srgbClr val="1A2030">
                <a:alpha val="14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4597603" y="3149194"/>
            <a:ext cx="2476195" cy="38405"/>
          </a:xfrm>
          <a:prstGeom prst="rect">
            <a:avLst/>
          </a:prstGeom>
          <a:solidFill>
            <a:srgbClr val="07195A"/>
          </a:solidFill>
          <a:ln/>
        </p:spPr>
      </p:sp>
      <p:sp>
        <p:nvSpPr>
          <p:cNvPr id="22" name="Text 19"/>
          <p:cNvSpPr/>
          <p:nvPr/>
        </p:nvSpPr>
        <p:spPr>
          <a:xfrm>
            <a:off x="4762195" y="3327502"/>
            <a:ext cx="30449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07195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03</a:t>
            </a:r>
            <a:endParaRPr lang="en-US" sz="1000" dirty="0"/>
          </a:p>
        </p:txBody>
      </p:sp>
      <p:sp>
        <p:nvSpPr>
          <p:cNvPr id="23" name="Text 20"/>
          <p:cNvSpPr/>
          <p:nvPr/>
        </p:nvSpPr>
        <p:spPr>
          <a:xfrm>
            <a:off x="5143500" y="3327502"/>
            <a:ext cx="1651406" cy="1901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0719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Management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5143500" y="3606394"/>
            <a:ext cx="1651406" cy="3044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7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Shared language improves decision quality and review speed.</a:t>
            </a:r>
            <a:endParaRPr lang="en-US" sz="750" dirty="0"/>
          </a:p>
        </p:txBody>
      </p:sp>
      <p:sp>
        <p:nvSpPr>
          <p:cNvPr id="25" name="Shape 22"/>
          <p:cNvSpPr/>
          <p:nvPr/>
        </p:nvSpPr>
        <p:spPr>
          <a:xfrm>
            <a:off x="7391095" y="3149194"/>
            <a:ext cx="2476195" cy="1015898"/>
          </a:xfrm>
          <a:prstGeom prst="roundRect">
            <a:avLst>
              <a:gd name="adj" fmla="val 5041"/>
            </a:avLst>
          </a:prstGeom>
          <a:solidFill>
            <a:srgbClr val="FFFFFF"/>
          </a:solidFill>
          <a:ln w="12700">
            <a:solidFill>
              <a:srgbClr val="D9D5CB"/>
            </a:solidFill>
            <a:prstDash val="solid"/>
          </a:ln>
          <a:effectLst>
            <a:outerShdw sx="100000" sy="100000" kx="0" ky="0" algn="bl" rotWithShape="0" blurRad="101600" dist="25400" dir="5400000">
              <a:srgbClr val="1A2030">
                <a:alpha val="14000"/>
              </a:srgbClr>
            </a:outerShdw>
          </a:effectLst>
        </p:spPr>
      </p:sp>
      <p:sp>
        <p:nvSpPr>
          <p:cNvPr id="26" name="Shape 23"/>
          <p:cNvSpPr/>
          <p:nvPr/>
        </p:nvSpPr>
        <p:spPr>
          <a:xfrm>
            <a:off x="7391095" y="3149194"/>
            <a:ext cx="2476195" cy="38405"/>
          </a:xfrm>
          <a:prstGeom prst="rect">
            <a:avLst/>
          </a:prstGeom>
          <a:solidFill>
            <a:srgbClr val="07195A"/>
          </a:solidFill>
          <a:ln/>
        </p:spPr>
      </p:sp>
      <p:sp>
        <p:nvSpPr>
          <p:cNvPr id="27" name="Text 24"/>
          <p:cNvSpPr/>
          <p:nvPr/>
        </p:nvSpPr>
        <p:spPr>
          <a:xfrm>
            <a:off x="7556602" y="3327502"/>
            <a:ext cx="30449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07195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04</a:t>
            </a:r>
            <a:endParaRPr lang="en-US" sz="1000" dirty="0"/>
          </a:p>
        </p:txBody>
      </p:sp>
      <p:sp>
        <p:nvSpPr>
          <p:cNvPr id="28" name="Text 25"/>
          <p:cNvSpPr/>
          <p:nvPr/>
        </p:nvSpPr>
        <p:spPr>
          <a:xfrm>
            <a:off x="7937906" y="3327502"/>
            <a:ext cx="1651406" cy="1901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0719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Operations</a:t>
            </a:r>
            <a:endParaRPr lang="en-US" sz="1100" dirty="0"/>
          </a:p>
        </p:txBody>
      </p:sp>
      <p:sp>
        <p:nvSpPr>
          <p:cNvPr id="29" name="Text 26"/>
          <p:cNvSpPr/>
          <p:nvPr/>
        </p:nvSpPr>
        <p:spPr>
          <a:xfrm>
            <a:off x="7937906" y="3606394"/>
            <a:ext cx="1651406" cy="3044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7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Reusable examples reduce repeated onsite trial and error.</a:t>
            </a:r>
            <a:endParaRPr lang="en-US" sz="750" dirty="0"/>
          </a:p>
        </p:txBody>
      </p:sp>
      <p:sp>
        <p:nvSpPr>
          <p:cNvPr id="30" name="Shape 27"/>
          <p:cNvSpPr/>
          <p:nvPr/>
        </p:nvSpPr>
        <p:spPr>
          <a:xfrm>
            <a:off x="355702" y="6324905"/>
            <a:ext cx="11481206" cy="25603"/>
          </a:xfrm>
          <a:prstGeom prst="rect">
            <a:avLst/>
          </a:prstGeom>
          <a:solidFill>
            <a:srgbClr val="C51516"/>
          </a:solidFill>
          <a:ln/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609905" y="457200"/>
            <a:ext cx="9525305" cy="3685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C5151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Four-Column Mechanism</a:t>
            </a:r>
            <a:endParaRPr lang="en-US" sz="2000" dirty="0"/>
          </a:p>
        </p:txBody>
      </p:sp>
      <p:sp>
        <p:nvSpPr>
          <p:cNvPr id="4" name="Shape 1"/>
          <p:cNvSpPr/>
          <p:nvPr/>
        </p:nvSpPr>
        <p:spPr>
          <a:xfrm>
            <a:off x="609905" y="914400"/>
            <a:ext cx="4826203" cy="19202"/>
          </a:xfrm>
          <a:prstGeom prst="rect">
            <a:avLst/>
          </a:prstGeom>
          <a:solidFill>
            <a:srgbClr val="C51516"/>
          </a:solidFill>
          <a:ln/>
        </p:spPr>
      </p:sp>
      <p:sp>
        <p:nvSpPr>
          <p:cNvPr id="5" name="Text 2"/>
          <p:cNvSpPr/>
          <p:nvPr/>
        </p:nvSpPr>
        <p:spPr>
          <a:xfrm>
            <a:off x="609905" y="1041502"/>
            <a:ext cx="9778594" cy="2157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For four values, four roles, four capabilities, or four process links.</a:t>
            </a:r>
            <a:endParaRPr lang="en-US" sz="900" dirty="0"/>
          </a:p>
        </p:txBody>
      </p:sp>
      <p:sp>
        <p:nvSpPr>
          <p:cNvPr id="6" name="Shape 3"/>
          <p:cNvSpPr/>
          <p:nvPr/>
        </p:nvSpPr>
        <p:spPr>
          <a:xfrm>
            <a:off x="609905" y="1574597"/>
            <a:ext cx="267005" cy="267005"/>
          </a:xfrm>
          <a:prstGeom prst="rect">
            <a:avLst/>
          </a:prstGeom>
          <a:solidFill>
            <a:srgbClr val="07195A"/>
          </a:solidFill>
          <a:ln/>
        </p:spPr>
      </p:sp>
      <p:sp>
        <p:nvSpPr>
          <p:cNvPr id="7" name="Text 4"/>
          <p:cNvSpPr/>
          <p:nvPr/>
        </p:nvSpPr>
        <p:spPr>
          <a:xfrm>
            <a:off x="609905" y="1638605"/>
            <a:ext cx="267005" cy="1271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01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965606" y="1561795"/>
            <a:ext cx="1904695" cy="1901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0719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Operate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965606" y="1828800"/>
            <a:ext cx="609905" cy="32004"/>
          </a:xfrm>
          <a:prstGeom prst="rect">
            <a:avLst/>
          </a:prstGeom>
          <a:solidFill>
            <a:srgbClr val="07195A"/>
          </a:solidFill>
          <a:ln/>
        </p:spPr>
      </p:sp>
      <p:sp>
        <p:nvSpPr>
          <p:cNvPr id="10" name="Text 7"/>
          <p:cNvSpPr/>
          <p:nvPr/>
        </p:nvSpPr>
        <p:spPr>
          <a:xfrm>
            <a:off x="609905" y="2108606"/>
            <a:ext cx="2222906" cy="4700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850" dirty="0">
                <a:solidFill>
                  <a:srgbClr val="3D3A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Connect metrics, process, and action.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1548994" y="3301898"/>
            <a:ext cx="75895" cy="114300"/>
          </a:xfrm>
          <a:prstGeom prst="rect">
            <a:avLst/>
          </a:prstGeom>
          <a:solidFill>
            <a:srgbClr val="F3F6FA"/>
          </a:solidFill>
          <a:ln w="17780">
            <a:solidFill>
              <a:srgbClr val="07195A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1676095" y="3213202"/>
            <a:ext cx="75895" cy="202997"/>
          </a:xfrm>
          <a:prstGeom prst="rect">
            <a:avLst/>
          </a:prstGeom>
          <a:solidFill>
            <a:srgbClr val="F3F6FA"/>
          </a:solidFill>
          <a:ln w="17780">
            <a:solidFill>
              <a:srgbClr val="07195A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1803197" y="3124505"/>
            <a:ext cx="75895" cy="291694"/>
          </a:xfrm>
          <a:prstGeom prst="rect">
            <a:avLst/>
          </a:prstGeom>
          <a:solidFill>
            <a:srgbClr val="07195A"/>
          </a:solidFill>
          <a:ln w="17780">
            <a:solidFill>
              <a:srgbClr val="07195A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1498702" y="3416198"/>
            <a:ext cx="431597" cy="0"/>
          </a:xfrm>
          <a:prstGeom prst="line">
            <a:avLst/>
          </a:prstGeom>
          <a:noFill/>
          <a:ln w="17780">
            <a:solidFill>
              <a:srgbClr val="07195A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914400" y="4114800"/>
            <a:ext cx="1613002" cy="304495"/>
          </a:xfrm>
          <a:prstGeom prst="roundRect">
            <a:avLst>
              <a:gd name="adj" fmla="val 16817"/>
            </a:avLst>
          </a:prstGeom>
          <a:solidFill>
            <a:srgbClr val="F3F6FA"/>
          </a:solidFill>
          <a:ln w="12700">
            <a:solidFill>
              <a:srgbClr val="D9D5CB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914400" y="4177894"/>
            <a:ext cx="1613002" cy="1655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50" b="1" dirty="0">
                <a:solidFill>
                  <a:srgbClr val="0719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Visible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3174797" y="1524305"/>
            <a:ext cx="6401" cy="3301898"/>
          </a:xfrm>
          <a:prstGeom prst="rect">
            <a:avLst/>
          </a:prstGeom>
          <a:solidFill>
            <a:srgbClr val="D9D5CB"/>
          </a:solidFill>
          <a:ln/>
        </p:spPr>
      </p:sp>
      <p:sp>
        <p:nvSpPr>
          <p:cNvPr id="18" name="Shape 15"/>
          <p:cNvSpPr/>
          <p:nvPr/>
        </p:nvSpPr>
        <p:spPr>
          <a:xfrm>
            <a:off x="3353105" y="1574597"/>
            <a:ext cx="267005" cy="267005"/>
          </a:xfrm>
          <a:prstGeom prst="rect">
            <a:avLst/>
          </a:prstGeom>
          <a:solidFill>
            <a:srgbClr val="C51516"/>
          </a:solidFill>
          <a:ln/>
        </p:spPr>
      </p:sp>
      <p:sp>
        <p:nvSpPr>
          <p:cNvPr id="19" name="Text 16"/>
          <p:cNvSpPr/>
          <p:nvPr/>
        </p:nvSpPr>
        <p:spPr>
          <a:xfrm>
            <a:off x="3353105" y="1638605"/>
            <a:ext cx="267005" cy="1271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02</a:t>
            </a:r>
            <a:endParaRPr lang="en-US" sz="800" dirty="0"/>
          </a:p>
        </p:txBody>
      </p:sp>
      <p:sp>
        <p:nvSpPr>
          <p:cNvPr id="20" name="Text 17"/>
          <p:cNvSpPr/>
          <p:nvPr/>
        </p:nvSpPr>
        <p:spPr>
          <a:xfrm>
            <a:off x="3708806" y="1561795"/>
            <a:ext cx="1904695" cy="1901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C5151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Govern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3708806" y="1828800"/>
            <a:ext cx="609905" cy="32004"/>
          </a:xfrm>
          <a:prstGeom prst="rect">
            <a:avLst/>
          </a:prstGeom>
          <a:solidFill>
            <a:srgbClr val="C51516"/>
          </a:solidFill>
          <a:ln/>
        </p:spPr>
      </p:sp>
      <p:sp>
        <p:nvSpPr>
          <p:cNvPr id="22" name="Text 19"/>
          <p:cNvSpPr/>
          <p:nvPr/>
        </p:nvSpPr>
        <p:spPr>
          <a:xfrm>
            <a:off x="3353105" y="2108606"/>
            <a:ext cx="2222906" cy="4700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850" dirty="0">
                <a:solidFill>
                  <a:srgbClr val="3D3A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Close the loop from issue to solution.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 flipV="1">
            <a:off x="4267505" y="3124505"/>
            <a:ext cx="342900" cy="267005"/>
          </a:xfrm>
          <a:prstGeom prst="line">
            <a:avLst/>
          </a:prstGeom>
          <a:noFill/>
          <a:ln w="17780">
            <a:solidFill>
              <a:srgbClr val="C51516"/>
            </a:solidFill>
            <a:prstDash val="solid"/>
            <a:tailEnd type="triangle"/>
          </a:ln>
        </p:spPr>
      </p:sp>
      <p:sp>
        <p:nvSpPr>
          <p:cNvPr id="24" name="Shape 21"/>
          <p:cNvSpPr/>
          <p:nvPr/>
        </p:nvSpPr>
        <p:spPr>
          <a:xfrm>
            <a:off x="4267505" y="3390595"/>
            <a:ext cx="381305" cy="0"/>
          </a:xfrm>
          <a:prstGeom prst="line">
            <a:avLst/>
          </a:prstGeom>
          <a:noFill/>
          <a:ln w="17780">
            <a:solidFill>
              <a:srgbClr val="C51516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3657600" y="4114800"/>
            <a:ext cx="1613002" cy="304495"/>
          </a:xfrm>
          <a:prstGeom prst="roundRect">
            <a:avLst>
              <a:gd name="adj" fmla="val 16817"/>
            </a:avLst>
          </a:prstGeom>
          <a:solidFill>
            <a:srgbClr val="FBECEB"/>
          </a:solidFill>
          <a:ln w="12700">
            <a:solidFill>
              <a:srgbClr val="C51516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3657600" y="4177894"/>
            <a:ext cx="1613002" cy="1655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50" b="1" dirty="0">
                <a:solidFill>
                  <a:srgbClr val="C5151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Closed Loop</a:t>
            </a:r>
            <a:endParaRPr lang="en-US" sz="850" dirty="0"/>
          </a:p>
        </p:txBody>
      </p:sp>
      <p:sp>
        <p:nvSpPr>
          <p:cNvPr id="27" name="Shape 24"/>
          <p:cNvSpPr/>
          <p:nvPr/>
        </p:nvSpPr>
        <p:spPr>
          <a:xfrm>
            <a:off x="5917997" y="1524305"/>
            <a:ext cx="6401" cy="3301898"/>
          </a:xfrm>
          <a:prstGeom prst="rect">
            <a:avLst/>
          </a:prstGeom>
          <a:solidFill>
            <a:srgbClr val="D9D5CB"/>
          </a:solidFill>
          <a:ln/>
        </p:spPr>
      </p:sp>
      <p:sp>
        <p:nvSpPr>
          <p:cNvPr id="28" name="Shape 25"/>
          <p:cNvSpPr/>
          <p:nvPr/>
        </p:nvSpPr>
        <p:spPr>
          <a:xfrm>
            <a:off x="6096305" y="1574597"/>
            <a:ext cx="267005" cy="267005"/>
          </a:xfrm>
          <a:prstGeom prst="rect">
            <a:avLst/>
          </a:prstGeom>
          <a:solidFill>
            <a:srgbClr val="07195A"/>
          </a:solidFill>
          <a:ln/>
        </p:spPr>
      </p:sp>
      <p:sp>
        <p:nvSpPr>
          <p:cNvPr id="29" name="Text 26"/>
          <p:cNvSpPr/>
          <p:nvPr/>
        </p:nvSpPr>
        <p:spPr>
          <a:xfrm>
            <a:off x="6096305" y="1638605"/>
            <a:ext cx="267005" cy="1271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03</a:t>
            </a:r>
            <a:endParaRPr lang="en-US" sz="800" dirty="0"/>
          </a:p>
        </p:txBody>
      </p:sp>
      <p:sp>
        <p:nvSpPr>
          <p:cNvPr id="30" name="Text 27"/>
          <p:cNvSpPr/>
          <p:nvPr/>
        </p:nvSpPr>
        <p:spPr>
          <a:xfrm>
            <a:off x="6452006" y="1561795"/>
            <a:ext cx="1904695" cy="1901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0719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Assetize</a:t>
            </a:r>
            <a:endParaRPr lang="en-US" sz="1100" dirty="0"/>
          </a:p>
        </p:txBody>
      </p:sp>
      <p:sp>
        <p:nvSpPr>
          <p:cNvPr id="31" name="Shape 28"/>
          <p:cNvSpPr/>
          <p:nvPr/>
        </p:nvSpPr>
        <p:spPr>
          <a:xfrm>
            <a:off x="6452006" y="1828800"/>
            <a:ext cx="609905" cy="32004"/>
          </a:xfrm>
          <a:prstGeom prst="rect">
            <a:avLst/>
          </a:prstGeom>
          <a:solidFill>
            <a:srgbClr val="07195A"/>
          </a:solidFill>
          <a:ln/>
        </p:spPr>
      </p:sp>
      <p:sp>
        <p:nvSpPr>
          <p:cNvPr id="32" name="Text 29"/>
          <p:cNvSpPr/>
          <p:nvPr/>
        </p:nvSpPr>
        <p:spPr>
          <a:xfrm>
            <a:off x="6096305" y="2108606"/>
            <a:ext cx="2222906" cy="4700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850" dirty="0">
                <a:solidFill>
                  <a:srgbClr val="3D3A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Turn one-off experience into reusable knowledge.</a:t>
            </a:r>
            <a:endParaRPr lang="en-US" sz="850" dirty="0"/>
          </a:p>
        </p:txBody>
      </p:sp>
      <p:sp>
        <p:nvSpPr>
          <p:cNvPr id="33" name="Shape 30"/>
          <p:cNvSpPr/>
          <p:nvPr/>
        </p:nvSpPr>
        <p:spPr>
          <a:xfrm>
            <a:off x="7099402" y="3161995"/>
            <a:ext cx="202997" cy="202997"/>
          </a:xfrm>
          <a:prstGeom prst="ellipse">
            <a:avLst/>
          </a:prstGeom>
          <a:solidFill>
            <a:srgbClr val="07195A"/>
          </a:solidFill>
          <a:ln/>
        </p:spPr>
      </p:sp>
      <p:sp>
        <p:nvSpPr>
          <p:cNvPr id="34" name="Shape 31"/>
          <p:cNvSpPr/>
          <p:nvPr/>
        </p:nvSpPr>
        <p:spPr>
          <a:xfrm flipH="1" flipV="1">
            <a:off x="6933895" y="3060497"/>
            <a:ext cx="267005" cy="202997"/>
          </a:xfrm>
          <a:prstGeom prst="line">
            <a:avLst/>
          </a:prstGeom>
          <a:noFill/>
          <a:ln w="17780">
            <a:solidFill>
              <a:srgbClr val="07195A"/>
            </a:solidFill>
            <a:prstDash val="solid"/>
          </a:ln>
        </p:spPr>
      </p:sp>
      <p:sp>
        <p:nvSpPr>
          <p:cNvPr id="35" name="Shape 32"/>
          <p:cNvSpPr/>
          <p:nvPr/>
        </p:nvSpPr>
        <p:spPr>
          <a:xfrm>
            <a:off x="6883603" y="3010205"/>
            <a:ext cx="101498" cy="101498"/>
          </a:xfrm>
          <a:prstGeom prst="ellipse">
            <a:avLst/>
          </a:prstGeom>
          <a:solidFill>
            <a:srgbClr val="F3F6FA"/>
          </a:solidFill>
          <a:ln w="17780">
            <a:solidFill>
              <a:srgbClr val="07195A"/>
            </a:solidFill>
            <a:prstDash val="solid"/>
          </a:ln>
        </p:spPr>
      </p:sp>
      <p:sp>
        <p:nvSpPr>
          <p:cNvPr id="36" name="Shape 33"/>
          <p:cNvSpPr/>
          <p:nvPr/>
        </p:nvSpPr>
        <p:spPr>
          <a:xfrm flipV="1">
            <a:off x="7200900" y="3060497"/>
            <a:ext cx="267005" cy="202997"/>
          </a:xfrm>
          <a:prstGeom prst="line">
            <a:avLst/>
          </a:prstGeom>
          <a:noFill/>
          <a:ln w="17780">
            <a:solidFill>
              <a:srgbClr val="07195A"/>
            </a:solidFill>
            <a:prstDash val="solid"/>
          </a:ln>
        </p:spPr>
      </p:sp>
      <p:sp>
        <p:nvSpPr>
          <p:cNvPr id="37" name="Shape 34"/>
          <p:cNvSpPr/>
          <p:nvPr/>
        </p:nvSpPr>
        <p:spPr>
          <a:xfrm>
            <a:off x="7416698" y="3010205"/>
            <a:ext cx="101498" cy="101498"/>
          </a:xfrm>
          <a:prstGeom prst="ellipse">
            <a:avLst/>
          </a:prstGeom>
          <a:solidFill>
            <a:srgbClr val="F3F6FA"/>
          </a:solidFill>
          <a:ln w="17780">
            <a:solidFill>
              <a:srgbClr val="07195A"/>
            </a:solidFill>
            <a:prstDash val="solid"/>
          </a:ln>
        </p:spPr>
      </p:sp>
      <p:sp>
        <p:nvSpPr>
          <p:cNvPr id="38" name="Shape 35"/>
          <p:cNvSpPr/>
          <p:nvPr/>
        </p:nvSpPr>
        <p:spPr>
          <a:xfrm flipH="1">
            <a:off x="6933895" y="3263494"/>
            <a:ext cx="267005" cy="202997"/>
          </a:xfrm>
          <a:prstGeom prst="line">
            <a:avLst/>
          </a:prstGeom>
          <a:noFill/>
          <a:ln w="17780">
            <a:solidFill>
              <a:srgbClr val="07195A"/>
            </a:solidFill>
            <a:prstDash val="solid"/>
          </a:ln>
        </p:spPr>
      </p:sp>
      <p:sp>
        <p:nvSpPr>
          <p:cNvPr id="39" name="Shape 36"/>
          <p:cNvSpPr/>
          <p:nvPr/>
        </p:nvSpPr>
        <p:spPr>
          <a:xfrm>
            <a:off x="6883603" y="3416198"/>
            <a:ext cx="101498" cy="101498"/>
          </a:xfrm>
          <a:prstGeom prst="ellipse">
            <a:avLst/>
          </a:prstGeom>
          <a:solidFill>
            <a:srgbClr val="F3F6FA"/>
          </a:solidFill>
          <a:ln w="17780">
            <a:solidFill>
              <a:srgbClr val="07195A"/>
            </a:solidFill>
            <a:prstDash val="solid"/>
          </a:ln>
        </p:spPr>
      </p:sp>
      <p:sp>
        <p:nvSpPr>
          <p:cNvPr id="40" name="Shape 37"/>
          <p:cNvSpPr/>
          <p:nvPr/>
        </p:nvSpPr>
        <p:spPr>
          <a:xfrm>
            <a:off x="7200900" y="3263494"/>
            <a:ext cx="267005" cy="202997"/>
          </a:xfrm>
          <a:prstGeom prst="line">
            <a:avLst/>
          </a:prstGeom>
          <a:noFill/>
          <a:ln w="17780">
            <a:solidFill>
              <a:srgbClr val="07195A"/>
            </a:solidFill>
            <a:prstDash val="solid"/>
          </a:ln>
        </p:spPr>
      </p:sp>
      <p:sp>
        <p:nvSpPr>
          <p:cNvPr id="41" name="Shape 38"/>
          <p:cNvSpPr/>
          <p:nvPr/>
        </p:nvSpPr>
        <p:spPr>
          <a:xfrm>
            <a:off x="7416698" y="3416198"/>
            <a:ext cx="101498" cy="101498"/>
          </a:xfrm>
          <a:prstGeom prst="ellipse">
            <a:avLst/>
          </a:prstGeom>
          <a:solidFill>
            <a:srgbClr val="F3F6FA"/>
          </a:solidFill>
          <a:ln w="17780">
            <a:solidFill>
              <a:srgbClr val="07195A"/>
            </a:solidFill>
            <a:prstDash val="solid"/>
          </a:ln>
        </p:spPr>
      </p:sp>
      <p:sp>
        <p:nvSpPr>
          <p:cNvPr id="42" name="Shape 39"/>
          <p:cNvSpPr/>
          <p:nvPr/>
        </p:nvSpPr>
        <p:spPr>
          <a:xfrm>
            <a:off x="6400800" y="4114800"/>
            <a:ext cx="1613002" cy="304495"/>
          </a:xfrm>
          <a:prstGeom prst="roundRect">
            <a:avLst>
              <a:gd name="adj" fmla="val 16817"/>
            </a:avLst>
          </a:prstGeom>
          <a:solidFill>
            <a:srgbClr val="F3F6FA"/>
          </a:solidFill>
          <a:ln w="12700">
            <a:solidFill>
              <a:srgbClr val="D9D5CB"/>
            </a:solidFill>
            <a:prstDash val="solid"/>
          </a:ln>
        </p:spPr>
      </p:sp>
      <p:sp>
        <p:nvSpPr>
          <p:cNvPr id="43" name="Text 40"/>
          <p:cNvSpPr/>
          <p:nvPr/>
        </p:nvSpPr>
        <p:spPr>
          <a:xfrm>
            <a:off x="6400800" y="4177894"/>
            <a:ext cx="1613002" cy="1655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50" b="1" dirty="0">
                <a:solidFill>
                  <a:srgbClr val="0719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Reusable</a:t>
            </a:r>
            <a:endParaRPr lang="en-US" sz="850" dirty="0"/>
          </a:p>
        </p:txBody>
      </p:sp>
      <p:sp>
        <p:nvSpPr>
          <p:cNvPr id="44" name="Shape 41"/>
          <p:cNvSpPr/>
          <p:nvPr/>
        </p:nvSpPr>
        <p:spPr>
          <a:xfrm>
            <a:off x="8661197" y="1524305"/>
            <a:ext cx="6401" cy="3301898"/>
          </a:xfrm>
          <a:prstGeom prst="rect">
            <a:avLst/>
          </a:prstGeom>
          <a:solidFill>
            <a:srgbClr val="D9D5CB"/>
          </a:solidFill>
          <a:ln/>
        </p:spPr>
      </p:sp>
      <p:sp>
        <p:nvSpPr>
          <p:cNvPr id="45" name="Shape 42"/>
          <p:cNvSpPr/>
          <p:nvPr/>
        </p:nvSpPr>
        <p:spPr>
          <a:xfrm>
            <a:off x="8839505" y="1574597"/>
            <a:ext cx="267005" cy="267005"/>
          </a:xfrm>
          <a:prstGeom prst="rect">
            <a:avLst/>
          </a:prstGeom>
          <a:solidFill>
            <a:srgbClr val="C51516"/>
          </a:solidFill>
          <a:ln/>
        </p:spPr>
      </p:sp>
      <p:sp>
        <p:nvSpPr>
          <p:cNvPr id="46" name="Text 43"/>
          <p:cNvSpPr/>
          <p:nvPr/>
        </p:nvSpPr>
        <p:spPr>
          <a:xfrm>
            <a:off x="8839505" y="1638605"/>
            <a:ext cx="267005" cy="1271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04</a:t>
            </a:r>
            <a:endParaRPr lang="en-US" sz="800" dirty="0"/>
          </a:p>
        </p:txBody>
      </p:sp>
      <p:sp>
        <p:nvSpPr>
          <p:cNvPr id="47" name="Text 44"/>
          <p:cNvSpPr/>
          <p:nvPr/>
        </p:nvSpPr>
        <p:spPr>
          <a:xfrm>
            <a:off x="9195206" y="1561795"/>
            <a:ext cx="1904695" cy="1901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C5151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Decide</a:t>
            </a:r>
            <a:endParaRPr lang="en-US" sz="1100" dirty="0"/>
          </a:p>
        </p:txBody>
      </p:sp>
      <p:sp>
        <p:nvSpPr>
          <p:cNvPr id="48" name="Shape 45"/>
          <p:cNvSpPr/>
          <p:nvPr/>
        </p:nvSpPr>
        <p:spPr>
          <a:xfrm>
            <a:off x="9195206" y="1828800"/>
            <a:ext cx="609905" cy="32004"/>
          </a:xfrm>
          <a:prstGeom prst="rect">
            <a:avLst/>
          </a:prstGeom>
          <a:solidFill>
            <a:srgbClr val="C51516"/>
          </a:solidFill>
          <a:ln/>
        </p:spPr>
      </p:sp>
      <p:sp>
        <p:nvSpPr>
          <p:cNvPr id="49" name="Text 46"/>
          <p:cNvSpPr/>
          <p:nvPr/>
        </p:nvSpPr>
        <p:spPr>
          <a:xfrm>
            <a:off x="8839505" y="2108606"/>
            <a:ext cx="2222906" cy="4700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850" dirty="0">
                <a:solidFill>
                  <a:srgbClr val="3D3A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Unify language across teams.</a:t>
            </a:r>
            <a:endParaRPr lang="en-US" sz="850" dirty="0"/>
          </a:p>
        </p:txBody>
      </p:sp>
      <p:sp>
        <p:nvSpPr>
          <p:cNvPr id="50" name="Shape 47"/>
          <p:cNvSpPr/>
          <p:nvPr/>
        </p:nvSpPr>
        <p:spPr>
          <a:xfrm>
            <a:off x="9804197" y="3098902"/>
            <a:ext cx="279806" cy="330098"/>
          </a:xfrm>
          <a:prstGeom prst="roundRect">
            <a:avLst>
              <a:gd name="adj" fmla="val 11438"/>
            </a:avLst>
          </a:prstGeom>
          <a:solidFill>
            <a:srgbClr val="FBECEB"/>
          </a:solidFill>
          <a:ln w="17780">
            <a:solidFill>
              <a:srgbClr val="C51516"/>
            </a:solidFill>
            <a:prstDash val="solid"/>
          </a:ln>
        </p:spPr>
      </p:sp>
      <p:sp>
        <p:nvSpPr>
          <p:cNvPr id="51" name="Shape 48"/>
          <p:cNvSpPr/>
          <p:nvPr/>
        </p:nvSpPr>
        <p:spPr>
          <a:xfrm>
            <a:off x="9868205" y="3219602"/>
            <a:ext cx="152705" cy="0"/>
          </a:xfrm>
          <a:prstGeom prst="line">
            <a:avLst/>
          </a:prstGeom>
          <a:noFill/>
          <a:ln w="17780">
            <a:solidFill>
              <a:srgbClr val="C51516"/>
            </a:solidFill>
            <a:prstDash val="solid"/>
          </a:ln>
        </p:spPr>
      </p:sp>
      <p:sp>
        <p:nvSpPr>
          <p:cNvPr id="52" name="Shape 49"/>
          <p:cNvSpPr/>
          <p:nvPr/>
        </p:nvSpPr>
        <p:spPr>
          <a:xfrm>
            <a:off x="9868205" y="3301898"/>
            <a:ext cx="152705" cy="0"/>
          </a:xfrm>
          <a:prstGeom prst="line">
            <a:avLst/>
          </a:prstGeom>
          <a:noFill/>
          <a:ln w="17780">
            <a:solidFill>
              <a:srgbClr val="C51516"/>
            </a:solidFill>
            <a:prstDash val="solid"/>
          </a:ln>
        </p:spPr>
      </p:sp>
      <p:sp>
        <p:nvSpPr>
          <p:cNvPr id="53" name="Shape 50"/>
          <p:cNvSpPr/>
          <p:nvPr/>
        </p:nvSpPr>
        <p:spPr>
          <a:xfrm>
            <a:off x="9144000" y="4114800"/>
            <a:ext cx="1613002" cy="304495"/>
          </a:xfrm>
          <a:prstGeom prst="roundRect">
            <a:avLst>
              <a:gd name="adj" fmla="val 16817"/>
            </a:avLst>
          </a:prstGeom>
          <a:solidFill>
            <a:srgbClr val="FBECEB"/>
          </a:solidFill>
          <a:ln w="12700">
            <a:solidFill>
              <a:srgbClr val="C51516"/>
            </a:solidFill>
            <a:prstDash val="solid"/>
          </a:ln>
        </p:spPr>
      </p:sp>
      <p:sp>
        <p:nvSpPr>
          <p:cNvPr id="54" name="Text 51"/>
          <p:cNvSpPr/>
          <p:nvPr/>
        </p:nvSpPr>
        <p:spPr>
          <a:xfrm>
            <a:off x="9144000" y="4177894"/>
            <a:ext cx="1613002" cy="1655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50" b="1" dirty="0">
                <a:solidFill>
                  <a:srgbClr val="C5151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Aligned</a:t>
            </a:r>
            <a:endParaRPr lang="en-US" sz="850" dirty="0"/>
          </a:p>
        </p:txBody>
      </p:sp>
      <p:sp>
        <p:nvSpPr>
          <p:cNvPr id="55" name="Shape 52"/>
          <p:cNvSpPr/>
          <p:nvPr/>
        </p:nvSpPr>
        <p:spPr>
          <a:xfrm>
            <a:off x="355702" y="6324905"/>
            <a:ext cx="11481206" cy="25603"/>
          </a:xfrm>
          <a:prstGeom prst="rect">
            <a:avLst/>
          </a:prstGeom>
          <a:solidFill>
            <a:srgbClr val="C51516"/>
          </a:solidFill>
          <a:ln/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609905" y="457200"/>
            <a:ext cx="9525305" cy="3685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C5151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System Architecture Center</a:t>
            </a:r>
            <a:endParaRPr lang="en-US" sz="2000" dirty="0"/>
          </a:p>
        </p:txBody>
      </p:sp>
      <p:sp>
        <p:nvSpPr>
          <p:cNvPr id="4" name="Shape 1"/>
          <p:cNvSpPr/>
          <p:nvPr/>
        </p:nvSpPr>
        <p:spPr>
          <a:xfrm>
            <a:off x="609905" y="914400"/>
            <a:ext cx="4826203" cy="19202"/>
          </a:xfrm>
          <a:prstGeom prst="rect">
            <a:avLst/>
          </a:prstGeom>
          <a:solidFill>
            <a:srgbClr val="C51516"/>
          </a:solidFill>
          <a:ln/>
        </p:spPr>
      </p:sp>
      <p:sp>
        <p:nvSpPr>
          <p:cNvPr id="5" name="Text 2"/>
          <p:cNvSpPr/>
          <p:nvPr/>
        </p:nvSpPr>
        <p:spPr>
          <a:xfrm>
            <a:off x="609905" y="1041502"/>
            <a:ext cx="9778594" cy="2157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For platform, product architecture, data flow, and control flow.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698602" y="1410005"/>
            <a:ext cx="2095805" cy="1773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0719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Inputs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8413394" y="1410005"/>
            <a:ext cx="2095805" cy="1773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0719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Outputs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698602" y="1727302"/>
            <a:ext cx="2095805" cy="342900"/>
          </a:xfrm>
          <a:prstGeom prst="roundRect">
            <a:avLst>
              <a:gd name="adj" fmla="val 14933"/>
            </a:avLst>
          </a:prstGeom>
          <a:solidFill>
            <a:srgbClr val="FFFFFF"/>
          </a:solidFill>
          <a:ln w="12700">
            <a:solidFill>
              <a:srgbClr val="D9D5CB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12902" y="1822399"/>
            <a:ext cx="1867205" cy="1399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00" b="1" dirty="0">
                <a:solidFill>
                  <a:srgbClr val="3D3A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Business data</a:t>
            </a:r>
            <a:endParaRPr lang="en-US" sz="800" dirty="0"/>
          </a:p>
        </p:txBody>
      </p:sp>
      <p:sp>
        <p:nvSpPr>
          <p:cNvPr id="10" name="Shape 7"/>
          <p:cNvSpPr/>
          <p:nvPr/>
        </p:nvSpPr>
        <p:spPr>
          <a:xfrm>
            <a:off x="2794406" y="1898294"/>
            <a:ext cx="895198" cy="0"/>
          </a:xfrm>
          <a:prstGeom prst="line">
            <a:avLst/>
          </a:prstGeom>
          <a:noFill/>
          <a:ln w="15240">
            <a:solidFill>
              <a:srgbClr val="07195A"/>
            </a:solidFill>
            <a:prstDash val="solid"/>
            <a:tailEnd type="triangle"/>
          </a:ln>
        </p:spPr>
      </p:sp>
      <p:sp>
        <p:nvSpPr>
          <p:cNvPr id="11" name="Shape 8"/>
          <p:cNvSpPr/>
          <p:nvPr/>
        </p:nvSpPr>
        <p:spPr>
          <a:xfrm>
            <a:off x="698602" y="2247595"/>
            <a:ext cx="2095805" cy="342900"/>
          </a:xfrm>
          <a:prstGeom prst="roundRect">
            <a:avLst>
              <a:gd name="adj" fmla="val 14933"/>
            </a:avLst>
          </a:prstGeom>
          <a:solidFill>
            <a:srgbClr val="FFFFFF"/>
          </a:solidFill>
          <a:ln w="12700">
            <a:solidFill>
              <a:srgbClr val="D9D5CB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12902" y="2343607"/>
            <a:ext cx="1867205" cy="1399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3D3A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Device status</a:t>
            </a:r>
            <a:endParaRPr lang="en-US" sz="800" dirty="0"/>
          </a:p>
        </p:txBody>
      </p:sp>
      <p:sp>
        <p:nvSpPr>
          <p:cNvPr id="13" name="Shape 10"/>
          <p:cNvSpPr/>
          <p:nvPr/>
        </p:nvSpPr>
        <p:spPr>
          <a:xfrm>
            <a:off x="2794406" y="2419502"/>
            <a:ext cx="895198" cy="0"/>
          </a:xfrm>
          <a:prstGeom prst="line">
            <a:avLst/>
          </a:prstGeom>
          <a:noFill/>
          <a:ln w="15240">
            <a:solidFill>
              <a:srgbClr val="07195A"/>
            </a:solidFill>
            <a:prstDash val="solid"/>
            <a:tailEnd type="triangle"/>
          </a:ln>
        </p:spPr>
      </p:sp>
      <p:sp>
        <p:nvSpPr>
          <p:cNvPr id="14" name="Shape 11"/>
          <p:cNvSpPr/>
          <p:nvPr/>
        </p:nvSpPr>
        <p:spPr>
          <a:xfrm>
            <a:off x="698602" y="2768803"/>
            <a:ext cx="2095805" cy="342900"/>
          </a:xfrm>
          <a:prstGeom prst="roundRect">
            <a:avLst>
              <a:gd name="adj" fmla="val 14933"/>
            </a:avLst>
          </a:prstGeom>
          <a:solidFill>
            <a:srgbClr val="FFFFFF"/>
          </a:solidFill>
          <a:ln w="12700">
            <a:solidFill>
              <a:srgbClr val="D9D5CB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12902" y="2863901"/>
            <a:ext cx="1867205" cy="1399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3D3A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Field feedback</a:t>
            </a:r>
            <a:endParaRPr lang="en-US" sz="800" dirty="0"/>
          </a:p>
        </p:txBody>
      </p:sp>
      <p:sp>
        <p:nvSpPr>
          <p:cNvPr id="16" name="Shape 13"/>
          <p:cNvSpPr/>
          <p:nvPr/>
        </p:nvSpPr>
        <p:spPr>
          <a:xfrm>
            <a:off x="2794406" y="2939796"/>
            <a:ext cx="895198" cy="0"/>
          </a:xfrm>
          <a:prstGeom prst="line">
            <a:avLst/>
          </a:prstGeom>
          <a:noFill/>
          <a:ln w="15240">
            <a:solidFill>
              <a:srgbClr val="07195A"/>
            </a:solidFill>
            <a:prstDash val="solid"/>
            <a:tailEnd type="triangle"/>
          </a:ln>
        </p:spPr>
      </p:sp>
      <p:sp>
        <p:nvSpPr>
          <p:cNvPr id="17" name="Shape 14"/>
          <p:cNvSpPr/>
          <p:nvPr/>
        </p:nvSpPr>
        <p:spPr>
          <a:xfrm>
            <a:off x="698602" y="3289097"/>
            <a:ext cx="2095805" cy="342900"/>
          </a:xfrm>
          <a:prstGeom prst="roundRect">
            <a:avLst>
              <a:gd name="adj" fmla="val 14933"/>
            </a:avLst>
          </a:prstGeom>
          <a:solidFill>
            <a:srgbClr val="FFFFFF"/>
          </a:solidFill>
          <a:ln w="12700">
            <a:solidFill>
              <a:srgbClr val="D9D5CB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12902" y="3384194"/>
            <a:ext cx="1867205" cy="1399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3D3A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Rules</a:t>
            </a:r>
            <a:endParaRPr lang="en-US" sz="800" dirty="0"/>
          </a:p>
        </p:txBody>
      </p:sp>
      <p:sp>
        <p:nvSpPr>
          <p:cNvPr id="19" name="Shape 16"/>
          <p:cNvSpPr/>
          <p:nvPr/>
        </p:nvSpPr>
        <p:spPr>
          <a:xfrm>
            <a:off x="2794406" y="3461004"/>
            <a:ext cx="895198" cy="0"/>
          </a:xfrm>
          <a:prstGeom prst="line">
            <a:avLst/>
          </a:prstGeom>
          <a:noFill/>
          <a:ln w="15240">
            <a:solidFill>
              <a:srgbClr val="07195A"/>
            </a:solidFill>
            <a:prstDash val="solid"/>
            <a:tailEnd type="triangle"/>
          </a:ln>
        </p:spPr>
      </p:sp>
      <p:sp>
        <p:nvSpPr>
          <p:cNvPr id="20" name="Shape 17"/>
          <p:cNvSpPr/>
          <p:nvPr/>
        </p:nvSpPr>
        <p:spPr>
          <a:xfrm>
            <a:off x="698602" y="3810305"/>
            <a:ext cx="2095805" cy="342900"/>
          </a:xfrm>
          <a:prstGeom prst="roundRect">
            <a:avLst>
              <a:gd name="adj" fmla="val 14933"/>
            </a:avLst>
          </a:prstGeom>
          <a:solidFill>
            <a:srgbClr val="FFFFFF"/>
          </a:solidFill>
          <a:ln w="12700">
            <a:solidFill>
              <a:srgbClr val="D9D5CB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812902" y="3905402"/>
            <a:ext cx="1867205" cy="1399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3D3A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External system</a:t>
            </a:r>
            <a:endParaRPr lang="en-US" sz="800" dirty="0"/>
          </a:p>
        </p:txBody>
      </p:sp>
      <p:sp>
        <p:nvSpPr>
          <p:cNvPr id="22" name="Shape 19"/>
          <p:cNvSpPr/>
          <p:nvPr/>
        </p:nvSpPr>
        <p:spPr>
          <a:xfrm>
            <a:off x="2794406" y="3981298"/>
            <a:ext cx="895198" cy="0"/>
          </a:xfrm>
          <a:prstGeom prst="line">
            <a:avLst/>
          </a:prstGeom>
          <a:noFill/>
          <a:ln w="15240">
            <a:solidFill>
              <a:srgbClr val="07195A"/>
            </a:solidFill>
            <a:prstDash val="solid"/>
            <a:tailEnd type="triangle"/>
          </a:ln>
        </p:spPr>
      </p:sp>
      <p:sp>
        <p:nvSpPr>
          <p:cNvPr id="23" name="Shape 20"/>
          <p:cNvSpPr/>
          <p:nvPr/>
        </p:nvSpPr>
        <p:spPr>
          <a:xfrm>
            <a:off x="3905402" y="1587398"/>
            <a:ext cx="3556102" cy="2667305"/>
          </a:xfrm>
          <a:prstGeom prst="roundRect">
            <a:avLst>
              <a:gd name="adj" fmla="val 1920"/>
            </a:avLst>
          </a:prstGeom>
          <a:solidFill>
            <a:srgbClr val="07195A"/>
          </a:solidFill>
          <a:ln w="12700">
            <a:solidFill>
              <a:srgbClr val="07195A"/>
            </a:solidFill>
            <a:prstDash val="solid"/>
          </a:ln>
          <a:effectLst>
            <a:outerShdw sx="100000" sy="100000" kx="0" ky="0" algn="bl" rotWithShape="0" blurRad="101600" dist="25400" dir="5400000">
              <a:srgbClr val="1A2030">
                <a:alpha val="14000"/>
              </a:srgbClr>
            </a:outerShdw>
          </a:effectLst>
        </p:spPr>
      </p:sp>
      <p:sp>
        <p:nvSpPr>
          <p:cNvPr id="24" name="Text 21"/>
          <p:cNvSpPr/>
          <p:nvPr/>
        </p:nvSpPr>
        <p:spPr>
          <a:xfrm>
            <a:off x="4172407" y="1803197"/>
            <a:ext cx="3023006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Core Platform</a:t>
            </a:r>
            <a:endParaRPr lang="en-US" sz="1500" dirty="0"/>
          </a:p>
        </p:txBody>
      </p:sp>
      <p:sp>
        <p:nvSpPr>
          <p:cNvPr id="25" name="Text 22"/>
          <p:cNvSpPr/>
          <p:nvPr/>
        </p:nvSpPr>
        <p:spPr>
          <a:xfrm>
            <a:off x="4349801" y="2120494"/>
            <a:ext cx="2667305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750" dirty="0">
                <a:solidFill>
                  <a:srgbClr val="DDE5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Data processing / strategy orchestration / state management</a:t>
            </a:r>
            <a:endParaRPr lang="en-US" sz="750" dirty="0"/>
          </a:p>
        </p:txBody>
      </p:sp>
      <p:sp>
        <p:nvSpPr>
          <p:cNvPr id="26" name="Shape 23"/>
          <p:cNvSpPr/>
          <p:nvPr/>
        </p:nvSpPr>
        <p:spPr>
          <a:xfrm>
            <a:off x="4248302" y="2616098"/>
            <a:ext cx="1308506" cy="279806"/>
          </a:xfrm>
          <a:prstGeom prst="roundRect">
            <a:avLst>
              <a:gd name="adj" fmla="val 18301"/>
            </a:avLst>
          </a:prstGeom>
          <a:solidFill>
            <a:srgbClr val="F3F6FA"/>
          </a:solidFill>
          <a:ln w="12700">
            <a:solidFill>
              <a:srgbClr val="D9D5CB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4324198" y="2691994"/>
            <a:ext cx="1155802" cy="1271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700" b="1" dirty="0">
                <a:solidFill>
                  <a:srgbClr val="0719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Data access</a:t>
            </a:r>
            <a:endParaRPr lang="en-US" sz="700" dirty="0"/>
          </a:p>
        </p:txBody>
      </p:sp>
      <p:sp>
        <p:nvSpPr>
          <p:cNvPr id="28" name="Shape 25"/>
          <p:cNvSpPr/>
          <p:nvPr/>
        </p:nvSpPr>
        <p:spPr>
          <a:xfrm>
            <a:off x="5810098" y="2616098"/>
            <a:ext cx="1308506" cy="279806"/>
          </a:xfrm>
          <a:prstGeom prst="roundRect">
            <a:avLst>
              <a:gd name="adj" fmla="val 18301"/>
            </a:avLst>
          </a:prstGeom>
          <a:solidFill>
            <a:srgbClr val="FBECEB"/>
          </a:solidFill>
          <a:ln w="12700">
            <a:solidFill>
              <a:srgbClr val="C51516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5886907" y="2691994"/>
            <a:ext cx="1155802" cy="1271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700" b="1" dirty="0">
                <a:solidFill>
                  <a:srgbClr val="C5151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Algorithm</a:t>
            </a:r>
            <a:endParaRPr lang="en-US" sz="700" dirty="0"/>
          </a:p>
        </p:txBody>
      </p:sp>
      <p:sp>
        <p:nvSpPr>
          <p:cNvPr id="30" name="Shape 27"/>
          <p:cNvSpPr/>
          <p:nvPr/>
        </p:nvSpPr>
        <p:spPr>
          <a:xfrm>
            <a:off x="4248302" y="3073298"/>
            <a:ext cx="1308506" cy="279806"/>
          </a:xfrm>
          <a:prstGeom prst="roundRect">
            <a:avLst>
              <a:gd name="adj" fmla="val 18301"/>
            </a:avLst>
          </a:prstGeom>
          <a:solidFill>
            <a:srgbClr val="F3F6FA"/>
          </a:solidFill>
          <a:ln w="12700">
            <a:solidFill>
              <a:srgbClr val="D9D5CB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4324198" y="3149194"/>
            <a:ext cx="1155802" cy="1271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700" b="1" dirty="0">
                <a:solidFill>
                  <a:srgbClr val="0719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Task flow</a:t>
            </a:r>
            <a:endParaRPr lang="en-US" sz="700" dirty="0"/>
          </a:p>
        </p:txBody>
      </p:sp>
      <p:sp>
        <p:nvSpPr>
          <p:cNvPr id="32" name="Shape 29"/>
          <p:cNvSpPr/>
          <p:nvPr/>
        </p:nvSpPr>
        <p:spPr>
          <a:xfrm>
            <a:off x="5810098" y="3073298"/>
            <a:ext cx="1308506" cy="279806"/>
          </a:xfrm>
          <a:prstGeom prst="roundRect">
            <a:avLst>
              <a:gd name="adj" fmla="val 18301"/>
            </a:avLst>
          </a:prstGeom>
          <a:solidFill>
            <a:srgbClr val="FBECEB"/>
          </a:solidFill>
          <a:ln w="12700">
            <a:solidFill>
              <a:srgbClr val="C51516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5886907" y="3149194"/>
            <a:ext cx="1155802" cy="1271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700" b="1" dirty="0">
                <a:solidFill>
                  <a:srgbClr val="C5151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Metrics</a:t>
            </a:r>
            <a:endParaRPr lang="en-US" sz="700" dirty="0"/>
          </a:p>
        </p:txBody>
      </p:sp>
      <p:sp>
        <p:nvSpPr>
          <p:cNvPr id="34" name="Shape 31"/>
          <p:cNvSpPr/>
          <p:nvPr/>
        </p:nvSpPr>
        <p:spPr>
          <a:xfrm>
            <a:off x="4248302" y="3530498"/>
            <a:ext cx="1308506" cy="279806"/>
          </a:xfrm>
          <a:prstGeom prst="roundRect">
            <a:avLst>
              <a:gd name="adj" fmla="val 18301"/>
            </a:avLst>
          </a:prstGeom>
          <a:solidFill>
            <a:srgbClr val="F3F6FA"/>
          </a:solidFill>
          <a:ln w="12700">
            <a:solidFill>
              <a:srgbClr val="D9D5CB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4324198" y="3606394"/>
            <a:ext cx="1155802" cy="1271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700" b="1" dirty="0">
                <a:solidFill>
                  <a:srgbClr val="0719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Permission</a:t>
            </a:r>
            <a:endParaRPr lang="en-US" sz="700" dirty="0"/>
          </a:p>
        </p:txBody>
      </p:sp>
      <p:sp>
        <p:nvSpPr>
          <p:cNvPr id="36" name="Shape 33"/>
          <p:cNvSpPr/>
          <p:nvPr/>
        </p:nvSpPr>
        <p:spPr>
          <a:xfrm>
            <a:off x="5810098" y="3530498"/>
            <a:ext cx="1308506" cy="279806"/>
          </a:xfrm>
          <a:prstGeom prst="roundRect">
            <a:avLst>
              <a:gd name="adj" fmla="val 18301"/>
            </a:avLst>
          </a:prstGeom>
          <a:solidFill>
            <a:srgbClr val="FBECEB"/>
          </a:solidFill>
          <a:ln w="12700">
            <a:solidFill>
              <a:srgbClr val="C51516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5886907" y="3606394"/>
            <a:ext cx="1155802" cy="1271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700" b="1" dirty="0">
                <a:solidFill>
                  <a:srgbClr val="C5151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Knowledge</a:t>
            </a:r>
            <a:endParaRPr lang="en-US" sz="700" dirty="0"/>
          </a:p>
        </p:txBody>
      </p:sp>
      <p:sp>
        <p:nvSpPr>
          <p:cNvPr id="38" name="Shape 35"/>
          <p:cNvSpPr/>
          <p:nvPr/>
        </p:nvSpPr>
        <p:spPr>
          <a:xfrm>
            <a:off x="7461504" y="1898294"/>
            <a:ext cx="952805" cy="0"/>
          </a:xfrm>
          <a:prstGeom prst="line">
            <a:avLst/>
          </a:prstGeom>
          <a:noFill/>
          <a:ln w="15240">
            <a:solidFill>
              <a:srgbClr val="07195A"/>
            </a:solidFill>
            <a:prstDash val="solid"/>
            <a:tailEnd type="triangle"/>
          </a:ln>
        </p:spPr>
      </p:sp>
      <p:sp>
        <p:nvSpPr>
          <p:cNvPr id="39" name="Shape 36"/>
          <p:cNvSpPr/>
          <p:nvPr/>
        </p:nvSpPr>
        <p:spPr>
          <a:xfrm>
            <a:off x="8413394" y="1727302"/>
            <a:ext cx="2095805" cy="342900"/>
          </a:xfrm>
          <a:prstGeom prst="roundRect">
            <a:avLst>
              <a:gd name="adj" fmla="val 14933"/>
            </a:avLst>
          </a:prstGeom>
          <a:solidFill>
            <a:srgbClr val="FFFFFF"/>
          </a:solidFill>
          <a:ln w="12700">
            <a:solidFill>
              <a:srgbClr val="D9D5CB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8527694" y="1822399"/>
            <a:ext cx="1867205" cy="1399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00" b="1" dirty="0">
                <a:solidFill>
                  <a:srgbClr val="3D3A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Dashboard</a:t>
            </a:r>
            <a:endParaRPr lang="en-US" sz="800" dirty="0"/>
          </a:p>
        </p:txBody>
      </p:sp>
      <p:sp>
        <p:nvSpPr>
          <p:cNvPr id="41" name="Shape 38"/>
          <p:cNvSpPr/>
          <p:nvPr/>
        </p:nvSpPr>
        <p:spPr>
          <a:xfrm>
            <a:off x="7461504" y="2419502"/>
            <a:ext cx="952805" cy="0"/>
          </a:xfrm>
          <a:prstGeom prst="line">
            <a:avLst/>
          </a:prstGeom>
          <a:noFill/>
          <a:ln w="15240">
            <a:solidFill>
              <a:srgbClr val="07195A"/>
            </a:solidFill>
            <a:prstDash val="solid"/>
            <a:tailEnd type="triangle"/>
          </a:ln>
        </p:spPr>
      </p:sp>
      <p:sp>
        <p:nvSpPr>
          <p:cNvPr id="42" name="Shape 39"/>
          <p:cNvSpPr/>
          <p:nvPr/>
        </p:nvSpPr>
        <p:spPr>
          <a:xfrm>
            <a:off x="8413394" y="2247595"/>
            <a:ext cx="2095805" cy="342900"/>
          </a:xfrm>
          <a:prstGeom prst="roundRect">
            <a:avLst>
              <a:gd name="adj" fmla="val 14933"/>
            </a:avLst>
          </a:prstGeom>
          <a:solidFill>
            <a:srgbClr val="FFFFFF"/>
          </a:solidFill>
          <a:ln w="12700">
            <a:solidFill>
              <a:srgbClr val="D9D5CB"/>
            </a:solidFill>
            <a:prstDash val="solid"/>
          </a:ln>
        </p:spPr>
      </p:sp>
      <p:sp>
        <p:nvSpPr>
          <p:cNvPr id="43" name="Text 40"/>
          <p:cNvSpPr/>
          <p:nvPr/>
        </p:nvSpPr>
        <p:spPr>
          <a:xfrm>
            <a:off x="8527694" y="2343607"/>
            <a:ext cx="1867205" cy="1399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3D3A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Decision advice</a:t>
            </a:r>
            <a:endParaRPr lang="en-US" sz="800" dirty="0"/>
          </a:p>
        </p:txBody>
      </p:sp>
      <p:sp>
        <p:nvSpPr>
          <p:cNvPr id="44" name="Shape 41"/>
          <p:cNvSpPr/>
          <p:nvPr/>
        </p:nvSpPr>
        <p:spPr>
          <a:xfrm>
            <a:off x="7461504" y="2939796"/>
            <a:ext cx="952805" cy="0"/>
          </a:xfrm>
          <a:prstGeom prst="line">
            <a:avLst/>
          </a:prstGeom>
          <a:noFill/>
          <a:ln w="15240">
            <a:solidFill>
              <a:srgbClr val="07195A"/>
            </a:solidFill>
            <a:prstDash val="solid"/>
            <a:tailEnd type="triangle"/>
          </a:ln>
        </p:spPr>
      </p:sp>
      <p:sp>
        <p:nvSpPr>
          <p:cNvPr id="45" name="Shape 42"/>
          <p:cNvSpPr/>
          <p:nvPr/>
        </p:nvSpPr>
        <p:spPr>
          <a:xfrm>
            <a:off x="8413394" y="2768803"/>
            <a:ext cx="2095805" cy="342900"/>
          </a:xfrm>
          <a:prstGeom prst="roundRect">
            <a:avLst>
              <a:gd name="adj" fmla="val 14933"/>
            </a:avLst>
          </a:prstGeom>
          <a:solidFill>
            <a:srgbClr val="FFFFFF"/>
          </a:solidFill>
          <a:ln w="12700">
            <a:solidFill>
              <a:srgbClr val="D9D5CB"/>
            </a:solidFill>
            <a:prstDash val="solid"/>
          </a:ln>
        </p:spPr>
      </p:sp>
      <p:sp>
        <p:nvSpPr>
          <p:cNvPr id="46" name="Text 43"/>
          <p:cNvSpPr/>
          <p:nvPr/>
        </p:nvSpPr>
        <p:spPr>
          <a:xfrm>
            <a:off x="8527694" y="2863901"/>
            <a:ext cx="1867205" cy="1399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3D3A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Task command</a:t>
            </a:r>
            <a:endParaRPr lang="en-US" sz="800" dirty="0"/>
          </a:p>
        </p:txBody>
      </p:sp>
      <p:sp>
        <p:nvSpPr>
          <p:cNvPr id="47" name="Shape 44"/>
          <p:cNvSpPr/>
          <p:nvPr/>
        </p:nvSpPr>
        <p:spPr>
          <a:xfrm>
            <a:off x="7461504" y="3461004"/>
            <a:ext cx="952805" cy="0"/>
          </a:xfrm>
          <a:prstGeom prst="line">
            <a:avLst/>
          </a:prstGeom>
          <a:noFill/>
          <a:ln w="15240">
            <a:solidFill>
              <a:srgbClr val="07195A"/>
            </a:solidFill>
            <a:prstDash val="solid"/>
            <a:tailEnd type="triangle"/>
          </a:ln>
        </p:spPr>
      </p:sp>
      <p:sp>
        <p:nvSpPr>
          <p:cNvPr id="48" name="Shape 45"/>
          <p:cNvSpPr/>
          <p:nvPr/>
        </p:nvSpPr>
        <p:spPr>
          <a:xfrm>
            <a:off x="8413394" y="3289097"/>
            <a:ext cx="2095805" cy="342900"/>
          </a:xfrm>
          <a:prstGeom prst="roundRect">
            <a:avLst>
              <a:gd name="adj" fmla="val 14933"/>
            </a:avLst>
          </a:prstGeom>
          <a:solidFill>
            <a:srgbClr val="FFFFFF"/>
          </a:solidFill>
          <a:ln w="12700">
            <a:solidFill>
              <a:srgbClr val="D9D5CB"/>
            </a:solidFill>
            <a:prstDash val="solid"/>
          </a:ln>
        </p:spPr>
      </p:sp>
      <p:sp>
        <p:nvSpPr>
          <p:cNvPr id="49" name="Text 46"/>
          <p:cNvSpPr/>
          <p:nvPr/>
        </p:nvSpPr>
        <p:spPr>
          <a:xfrm>
            <a:off x="8527694" y="3384194"/>
            <a:ext cx="1867205" cy="1399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3D3A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Risk alert</a:t>
            </a:r>
            <a:endParaRPr lang="en-US" sz="800" dirty="0"/>
          </a:p>
        </p:txBody>
      </p:sp>
      <p:sp>
        <p:nvSpPr>
          <p:cNvPr id="50" name="Shape 47"/>
          <p:cNvSpPr/>
          <p:nvPr/>
        </p:nvSpPr>
        <p:spPr>
          <a:xfrm>
            <a:off x="7461504" y="3981298"/>
            <a:ext cx="952805" cy="0"/>
          </a:xfrm>
          <a:prstGeom prst="line">
            <a:avLst/>
          </a:prstGeom>
          <a:noFill/>
          <a:ln w="15240">
            <a:solidFill>
              <a:srgbClr val="07195A"/>
            </a:solidFill>
            <a:prstDash val="solid"/>
            <a:tailEnd type="triangle"/>
          </a:ln>
        </p:spPr>
      </p:sp>
      <p:sp>
        <p:nvSpPr>
          <p:cNvPr id="51" name="Shape 48"/>
          <p:cNvSpPr/>
          <p:nvPr/>
        </p:nvSpPr>
        <p:spPr>
          <a:xfrm>
            <a:off x="8413394" y="3810305"/>
            <a:ext cx="2095805" cy="342900"/>
          </a:xfrm>
          <a:prstGeom prst="roundRect">
            <a:avLst>
              <a:gd name="adj" fmla="val 14933"/>
            </a:avLst>
          </a:prstGeom>
          <a:solidFill>
            <a:srgbClr val="FFFFFF"/>
          </a:solidFill>
          <a:ln w="12700">
            <a:solidFill>
              <a:srgbClr val="D9D5CB"/>
            </a:solidFill>
            <a:prstDash val="solid"/>
          </a:ln>
        </p:spPr>
      </p:sp>
      <p:sp>
        <p:nvSpPr>
          <p:cNvPr id="52" name="Text 49"/>
          <p:cNvSpPr/>
          <p:nvPr/>
        </p:nvSpPr>
        <p:spPr>
          <a:xfrm>
            <a:off x="8527694" y="3905402"/>
            <a:ext cx="1867205" cy="1399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3D3A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Review report</a:t>
            </a:r>
            <a:endParaRPr lang="en-US" sz="800" dirty="0"/>
          </a:p>
        </p:txBody>
      </p:sp>
      <p:sp>
        <p:nvSpPr>
          <p:cNvPr id="53" name="Shape 50"/>
          <p:cNvSpPr/>
          <p:nvPr/>
        </p:nvSpPr>
        <p:spPr>
          <a:xfrm>
            <a:off x="355702" y="6324905"/>
            <a:ext cx="11481206" cy="25603"/>
          </a:xfrm>
          <a:prstGeom prst="rect">
            <a:avLst/>
          </a:prstGeom>
          <a:solidFill>
            <a:srgbClr val="C51516"/>
          </a:solidFill>
          <a:ln/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609905" y="457200"/>
            <a:ext cx="9525305" cy="3685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C5151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Hub-Spoke Capability</a:t>
            </a:r>
            <a:endParaRPr lang="en-US" sz="2000" dirty="0"/>
          </a:p>
        </p:txBody>
      </p:sp>
      <p:sp>
        <p:nvSpPr>
          <p:cNvPr id="4" name="Shape 1"/>
          <p:cNvSpPr/>
          <p:nvPr/>
        </p:nvSpPr>
        <p:spPr>
          <a:xfrm>
            <a:off x="609905" y="914400"/>
            <a:ext cx="4826203" cy="19202"/>
          </a:xfrm>
          <a:prstGeom prst="rect">
            <a:avLst/>
          </a:prstGeom>
          <a:solidFill>
            <a:srgbClr val="C51516"/>
          </a:solidFill>
          <a:ln/>
        </p:spPr>
      </p:sp>
      <p:sp>
        <p:nvSpPr>
          <p:cNvPr id="5" name="Text 2"/>
          <p:cNvSpPr/>
          <p:nvPr/>
        </p:nvSpPr>
        <p:spPr>
          <a:xfrm>
            <a:off x="609905" y="1041502"/>
            <a:ext cx="9778594" cy="2157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For showing how one core system supports multiple modules or roles.</a:t>
            </a:r>
            <a:endParaRPr lang="en-US" sz="900" dirty="0"/>
          </a:p>
        </p:txBody>
      </p:sp>
      <p:sp>
        <p:nvSpPr>
          <p:cNvPr id="6" name="Shape 3"/>
          <p:cNvSpPr/>
          <p:nvPr/>
        </p:nvSpPr>
        <p:spPr>
          <a:xfrm>
            <a:off x="4953305" y="2730398"/>
            <a:ext cx="2286000" cy="1041502"/>
          </a:xfrm>
          <a:prstGeom prst="roundRect">
            <a:avLst>
              <a:gd name="adj" fmla="val 4917"/>
            </a:avLst>
          </a:prstGeom>
          <a:solidFill>
            <a:srgbClr val="07195A"/>
          </a:solidFill>
          <a:ln w="12700">
            <a:solidFill>
              <a:srgbClr val="07195A"/>
            </a:solidFill>
            <a:prstDash val="solid"/>
          </a:ln>
          <a:effectLst>
            <a:outerShdw sx="100000" sy="100000" kx="0" ky="0" algn="bl" rotWithShape="0" blurRad="101600" dist="25400" dir="5400000">
              <a:srgbClr val="1A2030">
                <a:alpha val="14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5238598" y="3073298"/>
            <a:ext cx="1714500" cy="2542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Leander PPT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 flipH="1" flipV="1">
            <a:off x="3111703" y="1968703"/>
            <a:ext cx="2984602" cy="1282903"/>
          </a:xfrm>
          <a:prstGeom prst="line">
            <a:avLst/>
          </a:prstGeom>
          <a:noFill/>
          <a:ln w="15240">
            <a:solidFill>
              <a:srgbClr val="D9D5CB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2158898" y="1676095"/>
            <a:ext cx="1904695" cy="584302"/>
          </a:xfrm>
          <a:prstGeom prst="roundRect">
            <a:avLst>
              <a:gd name="adj" fmla="val 8764"/>
            </a:avLst>
          </a:prstGeom>
          <a:solidFill>
            <a:srgbClr val="FBECEB"/>
          </a:solidFill>
          <a:ln w="12700">
            <a:solidFill>
              <a:srgbClr val="C51516"/>
            </a:solidFill>
            <a:prstDash val="solid"/>
          </a:ln>
          <a:effectLst>
            <a:outerShdw sx="100000" sy="100000" kx="0" ky="0" algn="bl" rotWithShape="0" blurRad="101600" dist="25400" dir="5400000">
              <a:srgbClr val="1A2030">
                <a:alpha val="14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2286000" y="1803197"/>
            <a:ext cx="279806" cy="330098"/>
          </a:xfrm>
          <a:prstGeom prst="roundRect">
            <a:avLst>
              <a:gd name="adj" fmla="val 11438"/>
            </a:avLst>
          </a:prstGeom>
          <a:solidFill>
            <a:srgbClr val="FBECEB"/>
          </a:solidFill>
          <a:ln w="17780">
            <a:solidFill>
              <a:srgbClr val="C51516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2349094" y="1923898"/>
            <a:ext cx="152705" cy="0"/>
          </a:xfrm>
          <a:prstGeom prst="line">
            <a:avLst/>
          </a:prstGeom>
          <a:noFill/>
          <a:ln w="17780">
            <a:solidFill>
              <a:srgbClr val="C51516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2349094" y="2006194"/>
            <a:ext cx="152705" cy="0"/>
          </a:xfrm>
          <a:prstGeom prst="line">
            <a:avLst/>
          </a:prstGeom>
          <a:noFill/>
          <a:ln w="17780">
            <a:solidFill>
              <a:srgbClr val="C51516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2743200" y="1841602"/>
            <a:ext cx="1194206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50" b="1" dirty="0">
                <a:solidFill>
                  <a:srgbClr val="C5151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Outline</a:t>
            </a:r>
            <a:endParaRPr lang="en-US" sz="850" dirty="0"/>
          </a:p>
        </p:txBody>
      </p:sp>
      <p:sp>
        <p:nvSpPr>
          <p:cNvPr id="14" name="Text 11"/>
          <p:cNvSpPr/>
          <p:nvPr/>
        </p:nvSpPr>
        <p:spPr>
          <a:xfrm>
            <a:off x="2743200" y="2044598"/>
            <a:ext cx="1194206" cy="1271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Structure first</a:t>
            </a:r>
            <a:endParaRPr lang="en-US" sz="600" dirty="0"/>
          </a:p>
        </p:txBody>
      </p:sp>
      <p:sp>
        <p:nvSpPr>
          <p:cNvPr id="15" name="Shape 12"/>
          <p:cNvSpPr/>
          <p:nvPr/>
        </p:nvSpPr>
        <p:spPr>
          <a:xfrm flipV="1">
            <a:off x="6096305" y="1587398"/>
            <a:ext cx="0" cy="1663294"/>
          </a:xfrm>
          <a:prstGeom prst="line">
            <a:avLst/>
          </a:prstGeom>
          <a:noFill/>
          <a:ln w="15240">
            <a:solidFill>
              <a:srgbClr val="D9D5CB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5143500" y="1295705"/>
            <a:ext cx="1904695" cy="584302"/>
          </a:xfrm>
          <a:prstGeom prst="roundRect">
            <a:avLst>
              <a:gd name="adj" fmla="val 8764"/>
            </a:avLst>
          </a:prstGeom>
          <a:solidFill>
            <a:srgbClr val="FFFFFF"/>
          </a:solidFill>
          <a:ln w="12700">
            <a:solidFill>
              <a:srgbClr val="D9D5CB"/>
            </a:solidFill>
            <a:prstDash val="solid"/>
          </a:ln>
          <a:effectLst>
            <a:outerShdw sx="100000" sy="100000" kx="0" ky="0" algn="bl" rotWithShape="0" blurRad="101600" dist="25400" dir="5400000">
              <a:srgbClr val="1A2030">
                <a:alpha val="14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5264201" y="1441094"/>
            <a:ext cx="291694" cy="291694"/>
          </a:xfrm>
          <a:prstGeom prst="roundRect">
            <a:avLst>
              <a:gd name="adj" fmla="val 21630"/>
            </a:avLst>
          </a:prstGeom>
          <a:solidFill>
            <a:srgbClr val="F3F6FA"/>
          </a:solidFill>
          <a:ln w="17780">
            <a:solidFill>
              <a:srgbClr val="07195A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5296205" y="1517904"/>
            <a:ext cx="228600" cy="1399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7195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OK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5727802" y="1460297"/>
            <a:ext cx="1194206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50" b="1" dirty="0">
                <a:solidFill>
                  <a:srgbClr val="0719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Theme</a:t>
            </a:r>
            <a:endParaRPr lang="en-US" sz="850" dirty="0"/>
          </a:p>
        </p:txBody>
      </p:sp>
      <p:sp>
        <p:nvSpPr>
          <p:cNvPr id="20" name="Text 17"/>
          <p:cNvSpPr/>
          <p:nvPr/>
        </p:nvSpPr>
        <p:spPr>
          <a:xfrm>
            <a:off x="5727802" y="1663294"/>
            <a:ext cx="1194206" cy="1271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Token reuse</a:t>
            </a:r>
            <a:endParaRPr lang="en-US" sz="600" dirty="0"/>
          </a:p>
        </p:txBody>
      </p:sp>
      <p:sp>
        <p:nvSpPr>
          <p:cNvPr id="21" name="Shape 18"/>
          <p:cNvSpPr/>
          <p:nvPr/>
        </p:nvSpPr>
        <p:spPr>
          <a:xfrm flipV="1">
            <a:off x="6096305" y="1968703"/>
            <a:ext cx="2984602" cy="1282903"/>
          </a:xfrm>
          <a:prstGeom prst="line">
            <a:avLst/>
          </a:prstGeom>
          <a:noFill/>
          <a:ln w="15240">
            <a:solidFill>
              <a:srgbClr val="D9D5CB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8128102" y="1676095"/>
            <a:ext cx="1904695" cy="584302"/>
          </a:xfrm>
          <a:prstGeom prst="roundRect">
            <a:avLst>
              <a:gd name="adj" fmla="val 8764"/>
            </a:avLst>
          </a:prstGeom>
          <a:solidFill>
            <a:srgbClr val="FFFFFF"/>
          </a:solidFill>
          <a:ln w="12700">
            <a:solidFill>
              <a:srgbClr val="D9D5CB"/>
            </a:solidFill>
            <a:prstDash val="solid"/>
          </a:ln>
          <a:effectLst>
            <a:outerShdw sx="100000" sy="100000" kx="0" ky="0" algn="bl" rotWithShape="0" blurRad="101600" dist="25400" dir="5400000">
              <a:srgbClr val="1A2030">
                <a:alpha val="14000"/>
              </a:srgbClr>
            </a:outerShdw>
          </a:effectLst>
        </p:spPr>
      </p:sp>
      <p:sp>
        <p:nvSpPr>
          <p:cNvPr id="23" name="Shape 20"/>
          <p:cNvSpPr/>
          <p:nvPr/>
        </p:nvSpPr>
        <p:spPr>
          <a:xfrm>
            <a:off x="8292694" y="1867205"/>
            <a:ext cx="202997" cy="202997"/>
          </a:xfrm>
          <a:prstGeom prst="ellipse">
            <a:avLst/>
          </a:prstGeom>
          <a:solidFill>
            <a:srgbClr val="07195A"/>
          </a:solidFill>
          <a:ln/>
        </p:spPr>
      </p:sp>
      <p:sp>
        <p:nvSpPr>
          <p:cNvPr id="24" name="Shape 21"/>
          <p:cNvSpPr/>
          <p:nvPr/>
        </p:nvSpPr>
        <p:spPr>
          <a:xfrm flipH="1" flipV="1">
            <a:off x="8128102" y="1765706"/>
            <a:ext cx="267005" cy="202997"/>
          </a:xfrm>
          <a:prstGeom prst="line">
            <a:avLst/>
          </a:prstGeom>
          <a:noFill/>
          <a:ln w="17780">
            <a:solidFill>
              <a:srgbClr val="07195A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8076895" y="1714500"/>
            <a:ext cx="101498" cy="101498"/>
          </a:xfrm>
          <a:prstGeom prst="ellipse">
            <a:avLst/>
          </a:prstGeom>
          <a:solidFill>
            <a:srgbClr val="F3F6FA"/>
          </a:solidFill>
          <a:ln w="17780">
            <a:solidFill>
              <a:srgbClr val="07195A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 flipV="1">
            <a:off x="8395106" y="1765706"/>
            <a:ext cx="267005" cy="202997"/>
          </a:xfrm>
          <a:prstGeom prst="line">
            <a:avLst/>
          </a:prstGeom>
          <a:noFill/>
          <a:ln w="17780">
            <a:solidFill>
              <a:srgbClr val="07195A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8610905" y="1714500"/>
            <a:ext cx="101498" cy="101498"/>
          </a:xfrm>
          <a:prstGeom prst="ellipse">
            <a:avLst/>
          </a:prstGeom>
          <a:solidFill>
            <a:srgbClr val="F3F6FA"/>
          </a:solidFill>
          <a:ln w="17780">
            <a:solidFill>
              <a:srgbClr val="07195A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 flipH="1">
            <a:off x="8128102" y="1968703"/>
            <a:ext cx="267005" cy="202997"/>
          </a:xfrm>
          <a:prstGeom prst="line">
            <a:avLst/>
          </a:prstGeom>
          <a:noFill/>
          <a:ln w="17780">
            <a:solidFill>
              <a:srgbClr val="07195A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8076895" y="2120494"/>
            <a:ext cx="101498" cy="101498"/>
          </a:xfrm>
          <a:prstGeom prst="ellipse">
            <a:avLst/>
          </a:prstGeom>
          <a:solidFill>
            <a:srgbClr val="F3F6FA"/>
          </a:solidFill>
          <a:ln w="17780">
            <a:solidFill>
              <a:srgbClr val="07195A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8395106" y="1968703"/>
            <a:ext cx="267005" cy="202997"/>
          </a:xfrm>
          <a:prstGeom prst="line">
            <a:avLst/>
          </a:prstGeom>
          <a:noFill/>
          <a:ln w="17780">
            <a:solidFill>
              <a:srgbClr val="07195A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8610905" y="2120494"/>
            <a:ext cx="101498" cy="101498"/>
          </a:xfrm>
          <a:prstGeom prst="ellipse">
            <a:avLst/>
          </a:prstGeom>
          <a:solidFill>
            <a:srgbClr val="F3F6FA"/>
          </a:solidFill>
          <a:ln w="17780">
            <a:solidFill>
              <a:srgbClr val="07195A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8712403" y="1841602"/>
            <a:ext cx="1194206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50" b="1" dirty="0">
                <a:solidFill>
                  <a:srgbClr val="0719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Components</a:t>
            </a:r>
            <a:endParaRPr lang="en-US" sz="850" dirty="0"/>
          </a:p>
        </p:txBody>
      </p:sp>
      <p:sp>
        <p:nvSpPr>
          <p:cNvPr id="33" name="Text 30"/>
          <p:cNvSpPr/>
          <p:nvPr/>
        </p:nvSpPr>
        <p:spPr>
          <a:xfrm>
            <a:off x="8712403" y="2044598"/>
            <a:ext cx="1194206" cy="1271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Page assets</a:t>
            </a:r>
            <a:endParaRPr lang="en-US" sz="600" dirty="0"/>
          </a:p>
        </p:txBody>
      </p:sp>
      <p:sp>
        <p:nvSpPr>
          <p:cNvPr id="34" name="Shape 31"/>
          <p:cNvSpPr/>
          <p:nvPr/>
        </p:nvSpPr>
        <p:spPr>
          <a:xfrm flipH="1">
            <a:off x="3111703" y="3251606"/>
            <a:ext cx="2984602" cy="1225296"/>
          </a:xfrm>
          <a:prstGeom prst="line">
            <a:avLst/>
          </a:prstGeom>
          <a:noFill/>
          <a:ln w="15240">
            <a:solidFill>
              <a:srgbClr val="D9D5CB"/>
            </a:solidFill>
            <a:prstDash val="solid"/>
          </a:ln>
        </p:spPr>
      </p:sp>
      <p:sp>
        <p:nvSpPr>
          <p:cNvPr id="35" name="Shape 32"/>
          <p:cNvSpPr/>
          <p:nvPr/>
        </p:nvSpPr>
        <p:spPr>
          <a:xfrm>
            <a:off x="2158898" y="4184294"/>
            <a:ext cx="1904695" cy="584302"/>
          </a:xfrm>
          <a:prstGeom prst="roundRect">
            <a:avLst>
              <a:gd name="adj" fmla="val 8764"/>
            </a:avLst>
          </a:prstGeom>
          <a:solidFill>
            <a:srgbClr val="FFFFFF"/>
          </a:solidFill>
          <a:ln w="12700">
            <a:solidFill>
              <a:srgbClr val="D9D5CB"/>
            </a:solidFill>
            <a:prstDash val="solid"/>
          </a:ln>
          <a:effectLst>
            <a:outerShdw sx="100000" sy="100000" kx="0" ky="0" algn="bl" rotWithShape="0" blurRad="101600" dist="25400" dir="5400000">
              <a:srgbClr val="1A2030">
                <a:alpha val="14000"/>
              </a:srgbClr>
            </a:outerShdw>
          </a:effectLst>
        </p:spPr>
      </p:sp>
      <p:sp>
        <p:nvSpPr>
          <p:cNvPr id="36" name="Shape 33"/>
          <p:cNvSpPr/>
          <p:nvPr/>
        </p:nvSpPr>
        <p:spPr>
          <a:xfrm>
            <a:off x="2260397" y="4515307"/>
            <a:ext cx="75895" cy="114300"/>
          </a:xfrm>
          <a:prstGeom prst="rect">
            <a:avLst/>
          </a:prstGeom>
          <a:solidFill>
            <a:srgbClr val="F3F6FA"/>
          </a:solidFill>
          <a:ln w="17780">
            <a:solidFill>
              <a:srgbClr val="07195A"/>
            </a:solidFill>
            <a:prstDash val="solid"/>
          </a:ln>
        </p:spPr>
      </p:sp>
      <p:sp>
        <p:nvSpPr>
          <p:cNvPr id="37" name="Shape 34"/>
          <p:cNvSpPr/>
          <p:nvPr/>
        </p:nvSpPr>
        <p:spPr>
          <a:xfrm>
            <a:off x="2387498" y="4425696"/>
            <a:ext cx="75895" cy="202997"/>
          </a:xfrm>
          <a:prstGeom prst="rect">
            <a:avLst/>
          </a:prstGeom>
          <a:solidFill>
            <a:srgbClr val="F3F6FA"/>
          </a:solidFill>
          <a:ln w="17780">
            <a:solidFill>
              <a:srgbClr val="07195A"/>
            </a:solidFill>
            <a:prstDash val="solid"/>
          </a:ln>
        </p:spPr>
      </p:sp>
      <p:sp>
        <p:nvSpPr>
          <p:cNvPr id="38" name="Shape 35"/>
          <p:cNvSpPr/>
          <p:nvPr/>
        </p:nvSpPr>
        <p:spPr>
          <a:xfrm>
            <a:off x="2514600" y="4336999"/>
            <a:ext cx="75895" cy="291694"/>
          </a:xfrm>
          <a:prstGeom prst="rect">
            <a:avLst/>
          </a:prstGeom>
          <a:solidFill>
            <a:srgbClr val="07195A"/>
          </a:solidFill>
          <a:ln w="17780">
            <a:solidFill>
              <a:srgbClr val="07195A"/>
            </a:solidFill>
            <a:prstDash val="solid"/>
          </a:ln>
        </p:spPr>
      </p:sp>
      <p:sp>
        <p:nvSpPr>
          <p:cNvPr id="39" name="Shape 36"/>
          <p:cNvSpPr/>
          <p:nvPr/>
        </p:nvSpPr>
        <p:spPr>
          <a:xfrm>
            <a:off x="2210105" y="4629607"/>
            <a:ext cx="431597" cy="0"/>
          </a:xfrm>
          <a:prstGeom prst="line">
            <a:avLst/>
          </a:prstGeom>
          <a:noFill/>
          <a:ln w="17780">
            <a:solidFill>
              <a:srgbClr val="07195A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2743200" y="4349801"/>
            <a:ext cx="1194206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50" b="1" dirty="0">
                <a:solidFill>
                  <a:srgbClr val="0719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Charts</a:t>
            </a:r>
            <a:endParaRPr lang="en-US" sz="850" dirty="0"/>
          </a:p>
        </p:txBody>
      </p:sp>
      <p:sp>
        <p:nvSpPr>
          <p:cNvPr id="41" name="Text 38"/>
          <p:cNvSpPr/>
          <p:nvPr/>
        </p:nvSpPr>
        <p:spPr>
          <a:xfrm>
            <a:off x="2743200" y="4552798"/>
            <a:ext cx="1194206" cy="1271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Visible info</a:t>
            </a:r>
            <a:endParaRPr lang="en-US" sz="600" dirty="0"/>
          </a:p>
        </p:txBody>
      </p:sp>
      <p:sp>
        <p:nvSpPr>
          <p:cNvPr id="42" name="Shape 39"/>
          <p:cNvSpPr/>
          <p:nvPr/>
        </p:nvSpPr>
        <p:spPr>
          <a:xfrm>
            <a:off x="6096305" y="3251606"/>
            <a:ext cx="0" cy="1669694"/>
          </a:xfrm>
          <a:prstGeom prst="line">
            <a:avLst/>
          </a:prstGeom>
          <a:noFill/>
          <a:ln w="15240">
            <a:solidFill>
              <a:srgbClr val="D9D5CB"/>
            </a:solidFill>
            <a:prstDash val="solid"/>
          </a:ln>
        </p:spPr>
      </p:sp>
      <p:sp>
        <p:nvSpPr>
          <p:cNvPr id="43" name="Shape 40"/>
          <p:cNvSpPr/>
          <p:nvPr/>
        </p:nvSpPr>
        <p:spPr>
          <a:xfrm>
            <a:off x="5143500" y="4629607"/>
            <a:ext cx="1904695" cy="584302"/>
          </a:xfrm>
          <a:prstGeom prst="roundRect">
            <a:avLst>
              <a:gd name="adj" fmla="val 8764"/>
            </a:avLst>
          </a:prstGeom>
          <a:solidFill>
            <a:srgbClr val="FFFFFF"/>
          </a:solidFill>
          <a:ln w="12700">
            <a:solidFill>
              <a:srgbClr val="D9D5CB"/>
            </a:solidFill>
            <a:prstDash val="solid"/>
          </a:ln>
          <a:effectLst>
            <a:outerShdw sx="100000" sy="100000" kx="0" ky="0" algn="bl" rotWithShape="0" blurRad="101600" dist="25400" dir="5400000">
              <a:srgbClr val="1A2030">
                <a:alpha val="14000"/>
              </a:srgbClr>
            </a:outerShdw>
          </a:effectLst>
        </p:spPr>
      </p:sp>
      <p:sp>
        <p:nvSpPr>
          <p:cNvPr id="44" name="Shape 41"/>
          <p:cNvSpPr/>
          <p:nvPr/>
        </p:nvSpPr>
        <p:spPr>
          <a:xfrm>
            <a:off x="5340096" y="4762195"/>
            <a:ext cx="139903" cy="139903"/>
          </a:xfrm>
          <a:prstGeom prst="ellipse">
            <a:avLst/>
          </a:prstGeom>
          <a:solidFill>
            <a:srgbClr val="F3F6FA"/>
          </a:solidFill>
          <a:ln w="17780">
            <a:solidFill>
              <a:srgbClr val="07195A"/>
            </a:solidFill>
            <a:prstDash val="solid"/>
          </a:ln>
        </p:spPr>
      </p:sp>
      <p:sp>
        <p:nvSpPr>
          <p:cNvPr id="45" name="Shape 42"/>
          <p:cNvSpPr/>
          <p:nvPr/>
        </p:nvSpPr>
        <p:spPr>
          <a:xfrm>
            <a:off x="5264201" y="4934102"/>
            <a:ext cx="291694" cy="177394"/>
          </a:xfrm>
          <a:prstGeom prst="roundRect">
            <a:avLst>
              <a:gd name="adj" fmla="val 46392"/>
            </a:avLst>
          </a:prstGeom>
          <a:solidFill>
            <a:srgbClr val="F3F6FA"/>
          </a:solidFill>
          <a:ln w="17780">
            <a:solidFill>
              <a:srgbClr val="07195A"/>
            </a:solidFill>
            <a:prstDash val="solid"/>
          </a:ln>
        </p:spPr>
      </p:sp>
      <p:sp>
        <p:nvSpPr>
          <p:cNvPr id="46" name="Text 43"/>
          <p:cNvSpPr/>
          <p:nvPr/>
        </p:nvSpPr>
        <p:spPr>
          <a:xfrm>
            <a:off x="5727802" y="4794199"/>
            <a:ext cx="1194206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50" b="1" dirty="0">
                <a:solidFill>
                  <a:srgbClr val="0719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Assets</a:t>
            </a:r>
            <a:endParaRPr lang="en-US" sz="850" dirty="0"/>
          </a:p>
        </p:txBody>
      </p:sp>
      <p:sp>
        <p:nvSpPr>
          <p:cNvPr id="47" name="Text 44"/>
          <p:cNvSpPr/>
          <p:nvPr/>
        </p:nvSpPr>
        <p:spPr>
          <a:xfrm>
            <a:off x="5727802" y="4997196"/>
            <a:ext cx="1194206" cy="1271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Image/icon</a:t>
            </a:r>
            <a:endParaRPr lang="en-US" sz="600" dirty="0"/>
          </a:p>
        </p:txBody>
      </p:sp>
      <p:sp>
        <p:nvSpPr>
          <p:cNvPr id="48" name="Shape 45"/>
          <p:cNvSpPr/>
          <p:nvPr/>
        </p:nvSpPr>
        <p:spPr>
          <a:xfrm>
            <a:off x="6096305" y="3251606"/>
            <a:ext cx="2984602" cy="1225296"/>
          </a:xfrm>
          <a:prstGeom prst="line">
            <a:avLst/>
          </a:prstGeom>
          <a:noFill/>
          <a:ln w="15240">
            <a:solidFill>
              <a:srgbClr val="D9D5CB"/>
            </a:solidFill>
            <a:prstDash val="solid"/>
          </a:ln>
        </p:spPr>
      </p:sp>
      <p:sp>
        <p:nvSpPr>
          <p:cNvPr id="49" name="Shape 46"/>
          <p:cNvSpPr/>
          <p:nvPr/>
        </p:nvSpPr>
        <p:spPr>
          <a:xfrm>
            <a:off x="8128102" y="4184294"/>
            <a:ext cx="1904695" cy="584302"/>
          </a:xfrm>
          <a:prstGeom prst="roundRect">
            <a:avLst>
              <a:gd name="adj" fmla="val 8764"/>
            </a:avLst>
          </a:prstGeom>
          <a:solidFill>
            <a:srgbClr val="FFFFFF"/>
          </a:solidFill>
          <a:ln w="12700">
            <a:solidFill>
              <a:srgbClr val="D9D5CB"/>
            </a:solidFill>
            <a:prstDash val="solid"/>
          </a:ln>
          <a:effectLst>
            <a:outerShdw sx="100000" sy="100000" kx="0" ky="0" algn="bl" rotWithShape="0" blurRad="101600" dist="25400" dir="5400000">
              <a:srgbClr val="1A2030">
                <a:alpha val="14000"/>
              </a:srgbClr>
            </a:outerShdw>
          </a:effectLst>
        </p:spPr>
      </p:sp>
      <p:sp>
        <p:nvSpPr>
          <p:cNvPr id="50" name="Shape 47"/>
          <p:cNvSpPr/>
          <p:nvPr/>
        </p:nvSpPr>
        <p:spPr>
          <a:xfrm>
            <a:off x="8236001" y="4317797"/>
            <a:ext cx="317297" cy="317297"/>
          </a:xfrm>
          <a:prstGeom prst="ellipse">
            <a:avLst/>
          </a:prstGeom>
          <a:solidFill>
            <a:srgbClr val="F3F6FA"/>
          </a:solidFill>
          <a:ln w="17780">
            <a:solidFill>
              <a:srgbClr val="07195A"/>
            </a:solidFill>
            <a:prstDash val="solid"/>
          </a:ln>
        </p:spPr>
      </p:sp>
      <p:sp>
        <p:nvSpPr>
          <p:cNvPr id="51" name="Shape 48"/>
          <p:cNvSpPr/>
          <p:nvPr/>
        </p:nvSpPr>
        <p:spPr>
          <a:xfrm flipV="1">
            <a:off x="8395106" y="4388206"/>
            <a:ext cx="0" cy="88697"/>
          </a:xfrm>
          <a:prstGeom prst="line">
            <a:avLst/>
          </a:prstGeom>
          <a:noFill/>
          <a:ln w="17780">
            <a:solidFill>
              <a:srgbClr val="07195A"/>
            </a:solidFill>
            <a:prstDash val="solid"/>
          </a:ln>
        </p:spPr>
      </p:sp>
      <p:sp>
        <p:nvSpPr>
          <p:cNvPr id="52" name="Shape 49"/>
          <p:cNvSpPr/>
          <p:nvPr/>
        </p:nvSpPr>
        <p:spPr>
          <a:xfrm>
            <a:off x="8395106" y="4476902"/>
            <a:ext cx="82296" cy="51206"/>
          </a:xfrm>
          <a:prstGeom prst="line">
            <a:avLst/>
          </a:prstGeom>
          <a:noFill/>
          <a:ln w="17780">
            <a:solidFill>
              <a:srgbClr val="07195A"/>
            </a:solidFill>
            <a:prstDash val="solid"/>
          </a:ln>
        </p:spPr>
      </p:sp>
      <p:sp>
        <p:nvSpPr>
          <p:cNvPr id="53" name="Text 50"/>
          <p:cNvSpPr/>
          <p:nvPr/>
        </p:nvSpPr>
        <p:spPr>
          <a:xfrm>
            <a:off x="8712403" y="4349801"/>
            <a:ext cx="1194206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50" b="1" dirty="0">
                <a:solidFill>
                  <a:srgbClr val="0719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QA</a:t>
            </a:r>
            <a:endParaRPr lang="en-US" sz="850" dirty="0"/>
          </a:p>
        </p:txBody>
      </p:sp>
      <p:sp>
        <p:nvSpPr>
          <p:cNvPr id="54" name="Text 51"/>
          <p:cNvSpPr/>
          <p:nvPr/>
        </p:nvSpPr>
        <p:spPr>
          <a:xfrm>
            <a:off x="8712403" y="4552798"/>
            <a:ext cx="1194206" cy="1271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Rendered check</a:t>
            </a:r>
            <a:endParaRPr lang="en-US" sz="600" dirty="0"/>
          </a:p>
        </p:txBody>
      </p:sp>
      <p:sp>
        <p:nvSpPr>
          <p:cNvPr id="55" name="Shape 52"/>
          <p:cNvSpPr/>
          <p:nvPr/>
        </p:nvSpPr>
        <p:spPr>
          <a:xfrm>
            <a:off x="609905" y="5639105"/>
            <a:ext cx="10972800" cy="418795"/>
          </a:xfrm>
          <a:prstGeom prst="roundRect">
            <a:avLst>
              <a:gd name="adj" fmla="val 12227"/>
            </a:avLst>
          </a:prstGeom>
          <a:solidFill>
            <a:srgbClr val="FFFFFF"/>
          </a:solidFill>
          <a:ln w="12700">
            <a:solidFill>
              <a:srgbClr val="D9D5CB"/>
            </a:solidFill>
            <a:prstDash val="solid"/>
          </a:ln>
        </p:spPr>
      </p:sp>
      <p:sp>
        <p:nvSpPr>
          <p:cNvPr id="56" name="Text 53"/>
          <p:cNvSpPr/>
          <p:nvPr/>
        </p:nvSpPr>
        <p:spPr>
          <a:xfrm>
            <a:off x="812902" y="5753405"/>
            <a:ext cx="10566806" cy="1773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00" b="1" dirty="0">
                <a:solidFill>
                  <a:srgbClr val="0719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Hub-spoke pages must explain relationships, not just decorate the page.</a:t>
            </a:r>
            <a:endParaRPr lang="en-US" sz="800" dirty="0"/>
          </a:p>
        </p:txBody>
      </p:sp>
      <p:sp>
        <p:nvSpPr>
          <p:cNvPr id="57" name="Shape 54"/>
          <p:cNvSpPr/>
          <p:nvPr/>
        </p:nvSpPr>
        <p:spPr>
          <a:xfrm>
            <a:off x="355702" y="6324905"/>
            <a:ext cx="11481206" cy="25603"/>
          </a:xfrm>
          <a:prstGeom prst="rect">
            <a:avLst/>
          </a:prstGeom>
          <a:solidFill>
            <a:srgbClr val="C51516"/>
          </a:solidFill>
          <a:ln/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609905" y="457200"/>
            <a:ext cx="9525305" cy="3685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C5151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Roadmap Swimlane</a:t>
            </a:r>
            <a:endParaRPr lang="en-US" sz="2000" dirty="0"/>
          </a:p>
        </p:txBody>
      </p:sp>
      <p:sp>
        <p:nvSpPr>
          <p:cNvPr id="4" name="Shape 1"/>
          <p:cNvSpPr/>
          <p:nvPr/>
        </p:nvSpPr>
        <p:spPr>
          <a:xfrm>
            <a:off x="609905" y="914400"/>
            <a:ext cx="4826203" cy="19202"/>
          </a:xfrm>
          <a:prstGeom prst="rect">
            <a:avLst/>
          </a:prstGeom>
          <a:solidFill>
            <a:srgbClr val="C51516"/>
          </a:solidFill>
          <a:ln/>
        </p:spPr>
      </p:sp>
      <p:sp>
        <p:nvSpPr>
          <p:cNvPr id="5" name="Text 2"/>
          <p:cNvSpPr/>
          <p:nvPr/>
        </p:nvSpPr>
        <p:spPr>
          <a:xfrm>
            <a:off x="609905" y="1041502"/>
            <a:ext cx="9778594" cy="2157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For version planning, delivery rhythm, and multi-team plans.</a:t>
            </a:r>
            <a:endParaRPr lang="en-US" sz="900" dirty="0"/>
          </a:p>
        </p:txBody>
      </p:sp>
      <p:sp>
        <p:nvSpPr>
          <p:cNvPr id="6" name="Shape 3"/>
          <p:cNvSpPr/>
          <p:nvPr/>
        </p:nvSpPr>
        <p:spPr>
          <a:xfrm>
            <a:off x="2222906" y="1410005"/>
            <a:ext cx="1657807" cy="304495"/>
          </a:xfrm>
          <a:prstGeom prst="roundRect">
            <a:avLst>
              <a:gd name="adj" fmla="val 16817"/>
            </a:avLst>
          </a:prstGeom>
          <a:solidFill>
            <a:srgbClr val="C51516"/>
          </a:solidFill>
          <a:ln/>
        </p:spPr>
      </p:sp>
      <p:sp>
        <p:nvSpPr>
          <p:cNvPr id="7" name="Text 4"/>
          <p:cNvSpPr/>
          <p:nvPr/>
        </p:nvSpPr>
        <p:spPr>
          <a:xfrm>
            <a:off x="2222906" y="1492301"/>
            <a:ext cx="1657807" cy="1271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7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Stage 1</a:t>
            </a:r>
            <a:endParaRPr lang="en-US" sz="750" dirty="0"/>
          </a:p>
        </p:txBody>
      </p:sp>
      <p:sp>
        <p:nvSpPr>
          <p:cNvPr id="8" name="Shape 5"/>
          <p:cNvSpPr/>
          <p:nvPr/>
        </p:nvSpPr>
        <p:spPr>
          <a:xfrm>
            <a:off x="4032504" y="1410005"/>
            <a:ext cx="1657807" cy="304495"/>
          </a:xfrm>
          <a:prstGeom prst="roundRect">
            <a:avLst>
              <a:gd name="adj" fmla="val 16817"/>
            </a:avLst>
          </a:prstGeom>
          <a:solidFill>
            <a:srgbClr val="07195A"/>
          </a:solidFill>
          <a:ln/>
        </p:spPr>
      </p:sp>
      <p:sp>
        <p:nvSpPr>
          <p:cNvPr id="9" name="Text 6"/>
          <p:cNvSpPr/>
          <p:nvPr/>
        </p:nvSpPr>
        <p:spPr>
          <a:xfrm>
            <a:off x="4032504" y="1492301"/>
            <a:ext cx="1657807" cy="1271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7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Stage 2</a:t>
            </a:r>
            <a:endParaRPr lang="en-US" sz="750" dirty="0"/>
          </a:p>
        </p:txBody>
      </p:sp>
      <p:sp>
        <p:nvSpPr>
          <p:cNvPr id="10" name="Shape 7"/>
          <p:cNvSpPr/>
          <p:nvPr/>
        </p:nvSpPr>
        <p:spPr>
          <a:xfrm>
            <a:off x="5842102" y="1410005"/>
            <a:ext cx="1657807" cy="304495"/>
          </a:xfrm>
          <a:prstGeom prst="roundRect">
            <a:avLst>
              <a:gd name="adj" fmla="val 16817"/>
            </a:avLst>
          </a:prstGeom>
          <a:solidFill>
            <a:srgbClr val="07195A"/>
          </a:solidFill>
          <a:ln/>
        </p:spPr>
      </p:sp>
      <p:sp>
        <p:nvSpPr>
          <p:cNvPr id="11" name="Text 8"/>
          <p:cNvSpPr/>
          <p:nvPr/>
        </p:nvSpPr>
        <p:spPr>
          <a:xfrm>
            <a:off x="5842102" y="1492301"/>
            <a:ext cx="1657807" cy="1271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7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Stage 3</a:t>
            </a:r>
            <a:endParaRPr lang="en-US" sz="750" dirty="0"/>
          </a:p>
        </p:txBody>
      </p:sp>
      <p:sp>
        <p:nvSpPr>
          <p:cNvPr id="12" name="Shape 9"/>
          <p:cNvSpPr/>
          <p:nvPr/>
        </p:nvSpPr>
        <p:spPr>
          <a:xfrm>
            <a:off x="7651699" y="1410005"/>
            <a:ext cx="1657807" cy="304495"/>
          </a:xfrm>
          <a:prstGeom prst="roundRect">
            <a:avLst>
              <a:gd name="adj" fmla="val 16817"/>
            </a:avLst>
          </a:prstGeom>
          <a:solidFill>
            <a:srgbClr val="07195A"/>
          </a:solidFill>
          <a:ln/>
        </p:spPr>
      </p:sp>
      <p:sp>
        <p:nvSpPr>
          <p:cNvPr id="13" name="Text 10"/>
          <p:cNvSpPr/>
          <p:nvPr/>
        </p:nvSpPr>
        <p:spPr>
          <a:xfrm>
            <a:off x="7651699" y="1492301"/>
            <a:ext cx="1657807" cy="1271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7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Stage 4</a:t>
            </a:r>
            <a:endParaRPr lang="en-US" sz="750" dirty="0"/>
          </a:p>
        </p:txBody>
      </p:sp>
      <p:sp>
        <p:nvSpPr>
          <p:cNvPr id="14" name="Shape 11"/>
          <p:cNvSpPr/>
          <p:nvPr/>
        </p:nvSpPr>
        <p:spPr>
          <a:xfrm>
            <a:off x="9461297" y="1410005"/>
            <a:ext cx="1657807" cy="304495"/>
          </a:xfrm>
          <a:prstGeom prst="roundRect">
            <a:avLst>
              <a:gd name="adj" fmla="val 16817"/>
            </a:avLst>
          </a:prstGeom>
          <a:solidFill>
            <a:srgbClr val="07195A"/>
          </a:solidFill>
          <a:ln/>
        </p:spPr>
      </p:sp>
      <p:sp>
        <p:nvSpPr>
          <p:cNvPr id="15" name="Text 12"/>
          <p:cNvSpPr/>
          <p:nvPr/>
        </p:nvSpPr>
        <p:spPr>
          <a:xfrm>
            <a:off x="9461297" y="1492301"/>
            <a:ext cx="1657807" cy="1271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7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Stage 5</a:t>
            </a:r>
            <a:endParaRPr lang="en-US" sz="750" dirty="0"/>
          </a:p>
        </p:txBody>
      </p:sp>
      <p:sp>
        <p:nvSpPr>
          <p:cNvPr id="16" name="Shape 13"/>
          <p:cNvSpPr/>
          <p:nvPr/>
        </p:nvSpPr>
        <p:spPr>
          <a:xfrm>
            <a:off x="1143000" y="1587398"/>
            <a:ext cx="940003" cy="482803"/>
          </a:xfrm>
          <a:prstGeom prst="roundRect">
            <a:avLst>
              <a:gd name="adj" fmla="val 10606"/>
            </a:avLst>
          </a:prstGeom>
          <a:solidFill>
            <a:srgbClr val="FBECEB"/>
          </a:solidFill>
          <a:ln w="12700">
            <a:solidFill>
              <a:srgbClr val="D9D5CB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1231697" y="1746504"/>
            <a:ext cx="761695" cy="1399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00" b="1" dirty="0">
                <a:solidFill>
                  <a:srgbClr val="C5151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Content</a:t>
            </a:r>
            <a:endParaRPr lang="en-US" sz="800" dirty="0"/>
          </a:p>
        </p:txBody>
      </p:sp>
      <p:sp>
        <p:nvSpPr>
          <p:cNvPr id="18" name="Shape 15"/>
          <p:cNvSpPr/>
          <p:nvPr/>
        </p:nvSpPr>
        <p:spPr>
          <a:xfrm>
            <a:off x="2222906" y="1587398"/>
            <a:ext cx="1657807" cy="482803"/>
          </a:xfrm>
          <a:prstGeom prst="roundRect">
            <a:avLst>
              <a:gd name="adj" fmla="val 10606"/>
            </a:avLst>
          </a:prstGeom>
          <a:solidFill>
            <a:srgbClr val="FFFFFF"/>
          </a:solidFill>
          <a:ln w="12700">
            <a:solidFill>
              <a:srgbClr val="D9D5CB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2324405" y="1676095"/>
            <a:ext cx="1453896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650" dirty="0">
                <a:solidFill>
                  <a:srgbClr val="3D3A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Collect</a:t>
            </a:r>
            <a:endParaRPr lang="en-US" sz="650" dirty="0"/>
          </a:p>
        </p:txBody>
      </p:sp>
      <p:sp>
        <p:nvSpPr>
          <p:cNvPr id="20" name="Shape 17"/>
          <p:cNvSpPr/>
          <p:nvPr/>
        </p:nvSpPr>
        <p:spPr>
          <a:xfrm>
            <a:off x="4032504" y="1587398"/>
            <a:ext cx="1657807" cy="482803"/>
          </a:xfrm>
          <a:prstGeom prst="roundRect">
            <a:avLst>
              <a:gd name="adj" fmla="val 10606"/>
            </a:avLst>
          </a:prstGeom>
          <a:solidFill>
            <a:srgbClr val="FFFFFF"/>
          </a:solidFill>
          <a:ln w="12700">
            <a:solidFill>
              <a:srgbClr val="D9D5CB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4134002" y="1676095"/>
            <a:ext cx="1453896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650" dirty="0">
                <a:solidFill>
                  <a:srgbClr val="3D3A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Outline</a:t>
            </a:r>
            <a:endParaRPr lang="en-US" sz="650" dirty="0"/>
          </a:p>
        </p:txBody>
      </p:sp>
      <p:sp>
        <p:nvSpPr>
          <p:cNvPr id="22" name="Shape 19"/>
          <p:cNvSpPr/>
          <p:nvPr/>
        </p:nvSpPr>
        <p:spPr>
          <a:xfrm>
            <a:off x="5842102" y="1587398"/>
            <a:ext cx="1657807" cy="482803"/>
          </a:xfrm>
          <a:prstGeom prst="roundRect">
            <a:avLst>
              <a:gd name="adj" fmla="val 10606"/>
            </a:avLst>
          </a:prstGeom>
          <a:solidFill>
            <a:srgbClr val="FFFFFF"/>
          </a:solidFill>
          <a:ln w="12700">
            <a:solidFill>
              <a:srgbClr val="D9D5CB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5943600" y="1676095"/>
            <a:ext cx="1453896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650" dirty="0">
                <a:solidFill>
                  <a:srgbClr val="3D3A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Samples</a:t>
            </a:r>
            <a:endParaRPr lang="en-US" sz="650" dirty="0"/>
          </a:p>
        </p:txBody>
      </p:sp>
      <p:sp>
        <p:nvSpPr>
          <p:cNvPr id="24" name="Shape 21"/>
          <p:cNvSpPr/>
          <p:nvPr/>
        </p:nvSpPr>
        <p:spPr>
          <a:xfrm>
            <a:off x="7651699" y="1587398"/>
            <a:ext cx="1657807" cy="482803"/>
          </a:xfrm>
          <a:prstGeom prst="roundRect">
            <a:avLst>
              <a:gd name="adj" fmla="val 10606"/>
            </a:avLst>
          </a:prstGeom>
          <a:solidFill>
            <a:srgbClr val="FFFFFF"/>
          </a:solidFill>
          <a:ln w="12700">
            <a:solidFill>
              <a:srgbClr val="D9D5CB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7753198" y="1676095"/>
            <a:ext cx="1453896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650" dirty="0">
                <a:solidFill>
                  <a:srgbClr val="3D3A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Full deck</a:t>
            </a:r>
            <a:endParaRPr lang="en-US" sz="650" dirty="0"/>
          </a:p>
        </p:txBody>
      </p:sp>
      <p:sp>
        <p:nvSpPr>
          <p:cNvPr id="26" name="Shape 23"/>
          <p:cNvSpPr/>
          <p:nvPr/>
        </p:nvSpPr>
        <p:spPr>
          <a:xfrm>
            <a:off x="9461297" y="1587398"/>
            <a:ext cx="1657807" cy="482803"/>
          </a:xfrm>
          <a:prstGeom prst="roundRect">
            <a:avLst>
              <a:gd name="adj" fmla="val 10606"/>
            </a:avLst>
          </a:prstGeom>
          <a:solidFill>
            <a:srgbClr val="FFFFFF"/>
          </a:solidFill>
          <a:ln w="12700">
            <a:solidFill>
              <a:srgbClr val="D9D5CB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9562795" y="1676095"/>
            <a:ext cx="1453896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650" dirty="0">
                <a:solidFill>
                  <a:srgbClr val="3D3A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Archive</a:t>
            </a:r>
            <a:endParaRPr lang="en-US" sz="650" dirty="0"/>
          </a:p>
        </p:txBody>
      </p:sp>
      <p:sp>
        <p:nvSpPr>
          <p:cNvPr id="28" name="Shape 25"/>
          <p:cNvSpPr/>
          <p:nvPr/>
        </p:nvSpPr>
        <p:spPr>
          <a:xfrm>
            <a:off x="1143000" y="2324405"/>
            <a:ext cx="940003" cy="482803"/>
          </a:xfrm>
          <a:prstGeom prst="roundRect">
            <a:avLst>
              <a:gd name="adj" fmla="val 10606"/>
            </a:avLst>
          </a:prstGeom>
          <a:solidFill>
            <a:srgbClr val="F3F6FA"/>
          </a:solidFill>
          <a:ln w="12700">
            <a:solidFill>
              <a:srgbClr val="D9D5CB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1231697" y="2482596"/>
            <a:ext cx="761695" cy="1399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00" b="1" dirty="0">
                <a:solidFill>
                  <a:srgbClr val="0719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Design</a:t>
            </a:r>
            <a:endParaRPr lang="en-US" sz="800" dirty="0"/>
          </a:p>
        </p:txBody>
      </p:sp>
      <p:sp>
        <p:nvSpPr>
          <p:cNvPr id="30" name="Shape 27"/>
          <p:cNvSpPr/>
          <p:nvPr/>
        </p:nvSpPr>
        <p:spPr>
          <a:xfrm>
            <a:off x="2222906" y="2324405"/>
            <a:ext cx="1657807" cy="482803"/>
          </a:xfrm>
          <a:prstGeom prst="roundRect">
            <a:avLst>
              <a:gd name="adj" fmla="val 10606"/>
            </a:avLst>
          </a:prstGeom>
          <a:solidFill>
            <a:srgbClr val="FFFFFF"/>
          </a:solidFill>
          <a:ln w="12700">
            <a:solidFill>
              <a:srgbClr val="D9D5CB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2324405" y="2413102"/>
            <a:ext cx="1453896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650" dirty="0">
                <a:solidFill>
                  <a:srgbClr val="3D3A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Theme</a:t>
            </a:r>
            <a:endParaRPr lang="en-US" sz="650" dirty="0"/>
          </a:p>
        </p:txBody>
      </p:sp>
      <p:sp>
        <p:nvSpPr>
          <p:cNvPr id="32" name="Shape 29"/>
          <p:cNvSpPr/>
          <p:nvPr/>
        </p:nvSpPr>
        <p:spPr>
          <a:xfrm>
            <a:off x="4032504" y="2324405"/>
            <a:ext cx="1657807" cy="482803"/>
          </a:xfrm>
          <a:prstGeom prst="roundRect">
            <a:avLst>
              <a:gd name="adj" fmla="val 10606"/>
            </a:avLst>
          </a:prstGeom>
          <a:solidFill>
            <a:srgbClr val="FFFFFF"/>
          </a:solidFill>
          <a:ln w="12700">
            <a:solidFill>
              <a:srgbClr val="D9D5CB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4134002" y="2413102"/>
            <a:ext cx="1453896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650" dirty="0">
                <a:solidFill>
                  <a:srgbClr val="3D3A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Component</a:t>
            </a:r>
            <a:endParaRPr lang="en-US" sz="650" dirty="0"/>
          </a:p>
        </p:txBody>
      </p:sp>
      <p:sp>
        <p:nvSpPr>
          <p:cNvPr id="34" name="Shape 31"/>
          <p:cNvSpPr/>
          <p:nvPr/>
        </p:nvSpPr>
        <p:spPr>
          <a:xfrm>
            <a:off x="5842102" y="2324405"/>
            <a:ext cx="1657807" cy="482803"/>
          </a:xfrm>
          <a:prstGeom prst="roundRect">
            <a:avLst>
              <a:gd name="adj" fmla="val 10606"/>
            </a:avLst>
          </a:prstGeom>
          <a:solidFill>
            <a:srgbClr val="FFFFFF"/>
          </a:solidFill>
          <a:ln w="12700">
            <a:solidFill>
              <a:srgbClr val="D9D5CB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5943600" y="2413102"/>
            <a:ext cx="1453896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650" dirty="0">
                <a:solidFill>
                  <a:srgbClr val="3D3A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Calibrate</a:t>
            </a:r>
            <a:endParaRPr lang="en-US" sz="650" dirty="0"/>
          </a:p>
        </p:txBody>
      </p:sp>
      <p:sp>
        <p:nvSpPr>
          <p:cNvPr id="36" name="Shape 33"/>
          <p:cNvSpPr/>
          <p:nvPr/>
        </p:nvSpPr>
        <p:spPr>
          <a:xfrm>
            <a:off x="7651699" y="2324405"/>
            <a:ext cx="1657807" cy="482803"/>
          </a:xfrm>
          <a:prstGeom prst="roundRect">
            <a:avLst>
              <a:gd name="adj" fmla="val 10606"/>
            </a:avLst>
          </a:prstGeom>
          <a:solidFill>
            <a:srgbClr val="FFFFFF"/>
          </a:solidFill>
          <a:ln w="12700">
            <a:solidFill>
              <a:srgbClr val="D9D5CB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7753198" y="2413102"/>
            <a:ext cx="1453896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650" dirty="0">
                <a:solidFill>
                  <a:srgbClr val="3D3A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Repair</a:t>
            </a:r>
            <a:endParaRPr lang="en-US" sz="650" dirty="0"/>
          </a:p>
        </p:txBody>
      </p:sp>
      <p:sp>
        <p:nvSpPr>
          <p:cNvPr id="38" name="Shape 35"/>
          <p:cNvSpPr/>
          <p:nvPr/>
        </p:nvSpPr>
        <p:spPr>
          <a:xfrm>
            <a:off x="9461297" y="2324405"/>
            <a:ext cx="1657807" cy="482803"/>
          </a:xfrm>
          <a:prstGeom prst="roundRect">
            <a:avLst>
              <a:gd name="adj" fmla="val 10606"/>
            </a:avLst>
          </a:prstGeom>
          <a:solidFill>
            <a:srgbClr val="FFFFFF"/>
          </a:solidFill>
          <a:ln w="12700">
            <a:solidFill>
              <a:srgbClr val="D9D5CB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9562795" y="2413102"/>
            <a:ext cx="1453896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650" dirty="0">
                <a:solidFill>
                  <a:srgbClr val="3D3A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Update</a:t>
            </a:r>
            <a:endParaRPr lang="en-US" sz="650" dirty="0"/>
          </a:p>
        </p:txBody>
      </p:sp>
      <p:sp>
        <p:nvSpPr>
          <p:cNvPr id="40" name="Shape 37"/>
          <p:cNvSpPr/>
          <p:nvPr/>
        </p:nvSpPr>
        <p:spPr>
          <a:xfrm>
            <a:off x="1143000" y="3060497"/>
            <a:ext cx="940003" cy="482803"/>
          </a:xfrm>
          <a:prstGeom prst="roundRect">
            <a:avLst>
              <a:gd name="adj" fmla="val 10606"/>
            </a:avLst>
          </a:prstGeom>
          <a:solidFill>
            <a:srgbClr val="FBECEB"/>
          </a:solidFill>
          <a:ln w="12700">
            <a:solidFill>
              <a:srgbClr val="D9D5CB"/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1231697" y="3219602"/>
            <a:ext cx="761695" cy="1399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00" b="1" dirty="0">
                <a:solidFill>
                  <a:srgbClr val="C5151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QA</a:t>
            </a:r>
            <a:endParaRPr lang="en-US" sz="800" dirty="0"/>
          </a:p>
        </p:txBody>
      </p:sp>
      <p:sp>
        <p:nvSpPr>
          <p:cNvPr id="42" name="Shape 39"/>
          <p:cNvSpPr/>
          <p:nvPr/>
        </p:nvSpPr>
        <p:spPr>
          <a:xfrm>
            <a:off x="2222906" y="3060497"/>
            <a:ext cx="1657807" cy="482803"/>
          </a:xfrm>
          <a:prstGeom prst="roundRect">
            <a:avLst>
              <a:gd name="adj" fmla="val 10606"/>
            </a:avLst>
          </a:prstGeom>
          <a:solidFill>
            <a:srgbClr val="FFFFFF"/>
          </a:solidFill>
          <a:ln w="12700">
            <a:solidFill>
              <a:srgbClr val="D9D5CB"/>
            </a:solidFill>
            <a:prstDash val="solid"/>
          </a:ln>
        </p:spPr>
      </p:sp>
      <p:sp>
        <p:nvSpPr>
          <p:cNvPr id="43" name="Text 40"/>
          <p:cNvSpPr/>
          <p:nvPr/>
        </p:nvSpPr>
        <p:spPr>
          <a:xfrm>
            <a:off x="2324405" y="3149194"/>
            <a:ext cx="1453896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650" dirty="0">
                <a:solidFill>
                  <a:srgbClr val="3D3A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Structure</a:t>
            </a:r>
            <a:endParaRPr lang="en-US" sz="650" dirty="0"/>
          </a:p>
        </p:txBody>
      </p:sp>
      <p:sp>
        <p:nvSpPr>
          <p:cNvPr id="44" name="Shape 41"/>
          <p:cNvSpPr/>
          <p:nvPr/>
        </p:nvSpPr>
        <p:spPr>
          <a:xfrm>
            <a:off x="4032504" y="3060497"/>
            <a:ext cx="1657807" cy="482803"/>
          </a:xfrm>
          <a:prstGeom prst="roundRect">
            <a:avLst>
              <a:gd name="adj" fmla="val 10606"/>
            </a:avLst>
          </a:prstGeom>
          <a:solidFill>
            <a:srgbClr val="FFFFFF"/>
          </a:solidFill>
          <a:ln w="12700">
            <a:solidFill>
              <a:srgbClr val="D9D5CB"/>
            </a:solidFill>
            <a:prstDash val="solid"/>
          </a:ln>
        </p:spPr>
      </p:sp>
      <p:sp>
        <p:nvSpPr>
          <p:cNvPr id="45" name="Text 42"/>
          <p:cNvSpPr/>
          <p:nvPr/>
        </p:nvSpPr>
        <p:spPr>
          <a:xfrm>
            <a:off x="4134002" y="3149194"/>
            <a:ext cx="1453896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650" dirty="0">
                <a:solidFill>
                  <a:srgbClr val="3D3A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Preview</a:t>
            </a:r>
            <a:endParaRPr lang="en-US" sz="650" dirty="0"/>
          </a:p>
        </p:txBody>
      </p:sp>
      <p:sp>
        <p:nvSpPr>
          <p:cNvPr id="46" name="Shape 43"/>
          <p:cNvSpPr/>
          <p:nvPr/>
        </p:nvSpPr>
        <p:spPr>
          <a:xfrm>
            <a:off x="5842102" y="3060497"/>
            <a:ext cx="1657807" cy="482803"/>
          </a:xfrm>
          <a:prstGeom prst="roundRect">
            <a:avLst>
              <a:gd name="adj" fmla="val 10606"/>
            </a:avLst>
          </a:prstGeom>
          <a:solidFill>
            <a:srgbClr val="FFFFFF"/>
          </a:solidFill>
          <a:ln w="12700">
            <a:solidFill>
              <a:srgbClr val="D9D5CB"/>
            </a:solidFill>
            <a:prstDash val="solid"/>
          </a:ln>
        </p:spPr>
      </p:sp>
      <p:sp>
        <p:nvSpPr>
          <p:cNvPr id="47" name="Text 44"/>
          <p:cNvSpPr/>
          <p:nvPr/>
        </p:nvSpPr>
        <p:spPr>
          <a:xfrm>
            <a:off x="5943600" y="3149194"/>
            <a:ext cx="1453896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650" dirty="0">
                <a:solidFill>
                  <a:srgbClr val="3D3A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Text</a:t>
            </a:r>
            <a:endParaRPr lang="en-US" sz="650" dirty="0"/>
          </a:p>
        </p:txBody>
      </p:sp>
      <p:sp>
        <p:nvSpPr>
          <p:cNvPr id="48" name="Shape 45"/>
          <p:cNvSpPr/>
          <p:nvPr/>
        </p:nvSpPr>
        <p:spPr>
          <a:xfrm>
            <a:off x="7651699" y="3060497"/>
            <a:ext cx="1657807" cy="482803"/>
          </a:xfrm>
          <a:prstGeom prst="roundRect">
            <a:avLst>
              <a:gd name="adj" fmla="val 10606"/>
            </a:avLst>
          </a:prstGeom>
          <a:solidFill>
            <a:srgbClr val="FFFFFF"/>
          </a:solidFill>
          <a:ln w="12700">
            <a:solidFill>
              <a:srgbClr val="D9D5CB"/>
            </a:solidFill>
            <a:prstDash val="solid"/>
          </a:ln>
        </p:spPr>
      </p:sp>
      <p:sp>
        <p:nvSpPr>
          <p:cNvPr id="49" name="Text 46"/>
          <p:cNvSpPr/>
          <p:nvPr/>
        </p:nvSpPr>
        <p:spPr>
          <a:xfrm>
            <a:off x="7753198" y="3149194"/>
            <a:ext cx="1453896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650" dirty="0">
                <a:solidFill>
                  <a:srgbClr val="3D3A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Demo</a:t>
            </a:r>
            <a:endParaRPr lang="en-US" sz="650" dirty="0"/>
          </a:p>
        </p:txBody>
      </p:sp>
      <p:sp>
        <p:nvSpPr>
          <p:cNvPr id="50" name="Shape 47"/>
          <p:cNvSpPr/>
          <p:nvPr/>
        </p:nvSpPr>
        <p:spPr>
          <a:xfrm>
            <a:off x="9461297" y="3060497"/>
            <a:ext cx="1657807" cy="482803"/>
          </a:xfrm>
          <a:prstGeom prst="roundRect">
            <a:avLst>
              <a:gd name="adj" fmla="val 10606"/>
            </a:avLst>
          </a:prstGeom>
          <a:solidFill>
            <a:srgbClr val="FFFFFF"/>
          </a:solidFill>
          <a:ln w="12700">
            <a:solidFill>
              <a:srgbClr val="D9D5CB"/>
            </a:solidFill>
            <a:prstDash val="solid"/>
          </a:ln>
        </p:spPr>
      </p:sp>
      <p:sp>
        <p:nvSpPr>
          <p:cNvPr id="51" name="Text 48"/>
          <p:cNvSpPr/>
          <p:nvPr/>
        </p:nvSpPr>
        <p:spPr>
          <a:xfrm>
            <a:off x="9562795" y="3149194"/>
            <a:ext cx="1453896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650" dirty="0">
                <a:solidFill>
                  <a:srgbClr val="3D3A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Close</a:t>
            </a:r>
            <a:endParaRPr lang="en-US" sz="650" dirty="0"/>
          </a:p>
        </p:txBody>
      </p:sp>
      <p:sp>
        <p:nvSpPr>
          <p:cNvPr id="52" name="Shape 49"/>
          <p:cNvSpPr/>
          <p:nvPr/>
        </p:nvSpPr>
        <p:spPr>
          <a:xfrm>
            <a:off x="4860950" y="1308506"/>
            <a:ext cx="0" cy="2286000"/>
          </a:xfrm>
          <a:prstGeom prst="line">
            <a:avLst/>
          </a:prstGeom>
          <a:noFill/>
          <a:ln w="25400">
            <a:solidFill>
              <a:srgbClr val="C51516"/>
            </a:solidFill>
            <a:prstDash val="dash"/>
          </a:ln>
        </p:spPr>
      </p:sp>
      <p:sp>
        <p:nvSpPr>
          <p:cNvPr id="53" name="Shape 50"/>
          <p:cNvSpPr/>
          <p:nvPr/>
        </p:nvSpPr>
        <p:spPr>
          <a:xfrm>
            <a:off x="355702" y="6324905"/>
            <a:ext cx="11481206" cy="25603"/>
          </a:xfrm>
          <a:prstGeom prst="rect">
            <a:avLst/>
          </a:prstGeom>
          <a:solidFill>
            <a:srgbClr val="C51516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Westwell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Leander PPT Scaffold Sample</dc:title>
  <dc:subject>Leander PPT scaffold sample</dc:subject>
  <dc:creator>Leander PPT</dc:creator>
  <cp:lastModifiedBy>Leander PPT</cp:lastModifiedBy>
  <cp:revision>1</cp:revision>
  <dcterms:created xsi:type="dcterms:W3CDTF">2026-06-18T07:16:15Z</dcterms:created>
  <dcterms:modified xsi:type="dcterms:W3CDTF">2026-06-18T07:16:15Z</dcterms:modified>
</cp:coreProperties>
</file>